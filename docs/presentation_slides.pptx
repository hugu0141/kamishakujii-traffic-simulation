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9" r:id="rId7"/>
    <p:sldId id="271" r:id="rId8"/>
    <p:sldId id="284" r:id="rId9"/>
    <p:sldId id="263" r:id="rId10"/>
    <p:sldId id="272" r:id="rId11"/>
    <p:sldId id="264" r:id="rId12"/>
    <p:sldId id="261" r:id="rId13"/>
    <p:sldId id="273" r:id="rId14"/>
    <p:sldId id="283" r:id="rId15"/>
    <p:sldId id="274" r:id="rId16"/>
    <p:sldId id="276" r:id="rId17"/>
    <p:sldId id="277" r:id="rId18"/>
    <p:sldId id="278" r:id="rId19"/>
    <p:sldId id="279" r:id="rId20"/>
    <p:sldId id="280" r:id="rId21"/>
    <p:sldId id="281" r:id="rId22"/>
    <p:sldId id="266" r:id="rId23"/>
    <p:sldId id="268" r:id="rId24"/>
    <p:sldId id="262" r:id="rId25"/>
    <p:sldId id="282" r:id="rId26"/>
    <p:sldId id="270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7316"/>
    <a:srgbClr val="2C48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6" autoAdjust="0"/>
    <p:restoredTop sz="94660"/>
  </p:normalViewPr>
  <p:slideViewPr>
    <p:cSldViewPr snapToGrid="0">
      <p:cViewPr>
        <p:scale>
          <a:sx n="125" d="100"/>
          <a:sy n="125" d="100"/>
        </p:scale>
        <p:origin x="1896" y="17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96274-179E-440F-90FD-075CA515ADD6}" type="datetimeFigureOut">
              <a:t>2026/3/15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B7366-3578-481F-AE57-4B76AEC0F9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80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ea typeface="游ゴシック"/>
                <a:cs typeface="Calibri"/>
              </a:rPr>
              <a:t>内容を洗練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5C65A-08DD-136A-9819-5390B96A9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44700-BE1E-6D94-B5D4-A859B0E6B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53B46-69FC-4F44-03ED-A9DAAB107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D54EB-721A-782D-7448-A3374AB58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90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C6DDD-B9D7-CC6C-539A-760DC58E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8C2AB-6533-A290-6708-BB1292D24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75633-DA20-8F88-2192-A07368C8B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B19BB-8973-6765-F59C-679518B74A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67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41D9C-5A39-5B2B-B2A6-9EA883A9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463D2-7E4A-3227-E2FF-6E2F93810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A2D0E-2371-CFDD-C665-636C653D4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ea typeface="游ゴシック"/>
                <a:cs typeface="Calibri"/>
              </a:rPr>
              <a:t>詰め込みすぎ（1と2で分解）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AF647-CD1F-790D-A6B2-2ADEC81D47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18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4D14-B667-2C60-CAD0-49059BD58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2F195-CE2F-B94F-3BB4-0D027FC2E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1FA9C-960B-A8BC-A98D-69D8A454D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ea typeface="游ゴシック"/>
                <a:cs typeface="Calibri"/>
              </a:rPr>
              <a:t>詰め込みすぎ（1と2で分解）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A89EA-19B6-FE82-30BA-5DBA779238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99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84099-627F-B7D8-EDAD-39AF48EB2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A4205-8A50-5649-AF04-0A3978988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293FD-44D1-02B2-2560-8CC9B887A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ea typeface="游ゴシック"/>
                <a:cs typeface="Calibri"/>
              </a:rPr>
              <a:t>詰め込みすぎ（1と2で分解）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22C06-8746-4CD6-F62A-D790E86D44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83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ea typeface="游ゴシック"/>
                <a:cs typeface="Calibri"/>
              </a:rPr>
              <a:t>詰め込みすぎ（もっと内容を分解）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E0F4D-22CE-9133-086A-B8729C01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CFF47-0D1A-DB4D-5613-0B53E3D9E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3ABD5-4434-524D-96F7-69910A4B7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F624F-0F79-F1CF-EE6F-48C1AFE29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00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1454-477F-3CAE-30DC-05F8E730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DA9E0-5E35-72D3-1570-A6B6075E1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B69CF-E11B-8851-BB37-9CE4BDC72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A1F56-FB0C-85E9-3749-7DBFCAD91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72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ity.nerima.tokyo.jp/kusei/soshiki/toshiseibi/kotsukikaku.html" TargetMode="External"/><Relationship Id="rId5" Type="http://schemas.openxmlformats.org/officeDocument/2006/relationships/hyperlink" Target="https://ceur-ws.org/Vol-3087/paper_28.pdf?utm_source=chatgpt.com" TargetMode="External"/><Relationship Id="rId4" Type="http://schemas.openxmlformats.org/officeDocument/2006/relationships/hyperlink" Target="https://link.springer.com/article/10.1186/s41235-019-0156-5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e1612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9317" y="1933575"/>
            <a:ext cx="4934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1500"/>
              </a:spcAft>
              <a:buNone/>
            </a:pPr>
            <a:r>
              <a:rPr lang="en-US" sz="4200" b="1">
                <a:solidFill>
                  <a:srgbClr val="1E3A8A"/>
                </a:solidFill>
                <a:latin typeface="Arial"/>
                <a:ea typeface="Arial" pitchFamily="34" charset="-122"/>
                <a:cs typeface="Arial"/>
              </a:rPr>
              <a:t>AI</a:t>
            </a:r>
            <a:r>
              <a:rPr lang="ja-JP" altLang="en-US" sz="4200" b="1">
                <a:solidFill>
                  <a:srgbClr val="1E3A8A"/>
                </a:solidFill>
                <a:latin typeface="Arial"/>
                <a:ea typeface="Arial" pitchFamily="34" charset="-122"/>
                <a:cs typeface="Arial"/>
              </a:rPr>
              <a:t>を用いた交通改善</a:t>
            </a:r>
            <a:endParaRPr lang="en-US" sz="4200"/>
          </a:p>
        </p:txBody>
      </p:sp>
      <p:sp>
        <p:nvSpPr>
          <p:cNvPr id="4" name="Text 1"/>
          <p:cNvSpPr/>
          <p:nvPr/>
        </p:nvSpPr>
        <p:spPr>
          <a:xfrm>
            <a:off x="3502923" y="2916436"/>
            <a:ext cx="194765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   小山   佐藤   沖</a:t>
            </a:r>
            <a:endParaRPr lang="en-US" sz="16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8b660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8505" y="356209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4400" b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動機</a:t>
            </a:r>
            <a:endParaRPr lang="en-US" sz="4400"/>
          </a:p>
        </p:txBody>
      </p:sp>
      <p:sp>
        <p:nvSpPr>
          <p:cNvPr id="4" name="Text 1"/>
          <p:cNvSpPr/>
          <p:nvPr/>
        </p:nvSpPr>
        <p:spPr>
          <a:xfrm>
            <a:off x="394291" y="1229432"/>
            <a:ext cx="8355419" cy="2315725"/>
          </a:xfrm>
          <a:prstGeom prst="roundRect">
            <a:avLst>
              <a:gd name="adj" fmla="val 7654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2825" y="1056137"/>
            <a:ext cx="7873595" cy="266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sz="3600">
                <a:solidFill>
                  <a:srgbClr val="1F2937"/>
                </a:solidFill>
                <a:latin typeface="游ゴシック"/>
                <a:ea typeface="游ゴシック"/>
                <a:cs typeface="Arial"/>
              </a:rPr>
              <a:t>練馬区内で渋滞等の交通問題がある</a:t>
            </a:r>
            <a:endParaRPr lang="en-US" altLang="ja-JP" sz="3600">
              <a:solidFill>
                <a:srgbClr val="000000"/>
              </a:solidFill>
              <a:latin typeface="游ゴシック"/>
              <a:ea typeface="游ゴシック"/>
              <a:cs typeface="Arial"/>
            </a:endParaRPr>
          </a:p>
          <a:p>
            <a:r>
              <a:rPr lang="ja-JP" sz="3600">
                <a:solidFill>
                  <a:srgbClr val="1F2937"/>
                </a:solidFill>
                <a:latin typeface="游ゴシック"/>
                <a:ea typeface="游ゴシック"/>
                <a:cs typeface="Arial"/>
              </a:rPr>
              <a:t>地域をみて</a:t>
            </a:r>
            <a:r>
              <a:rPr lang="en-US" altLang="ja-JP" sz="3600">
                <a:solidFill>
                  <a:srgbClr val="1F2937"/>
                </a:solidFill>
                <a:latin typeface="游ゴシック"/>
                <a:ea typeface="游ゴシック"/>
                <a:cs typeface="Arial"/>
              </a:rPr>
              <a:t>AI</a:t>
            </a:r>
            <a:r>
              <a:rPr lang="ja-JP" sz="3600">
                <a:solidFill>
                  <a:srgbClr val="1F2937"/>
                </a:solidFill>
                <a:latin typeface="游ゴシック"/>
                <a:ea typeface="游ゴシック"/>
                <a:cs typeface="Arial"/>
              </a:rPr>
              <a:t>を用いて解決できないかと考えた</a:t>
            </a:r>
            <a:endParaRPr lang="en-US" sz="3600">
              <a:latin typeface="游ゴシック"/>
              <a:ea typeface="游ゴシック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F8EF1B-5F9E-B58D-DAE2-5F789985E9F2}"/>
              </a:ext>
            </a:extLst>
          </p:cNvPr>
          <p:cNvSpPr/>
          <p:nvPr/>
        </p:nvSpPr>
        <p:spPr>
          <a:xfrm>
            <a:off x="393183" y="1229507"/>
            <a:ext cx="127615" cy="2316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15AF76DA-84EE-2C31-433A-37AAFE9FE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6455" y="653208"/>
            <a:ext cx="11296909" cy="532063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B16A945-F965-6E76-9A61-CCCB5EEB2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286" y="3072457"/>
            <a:ext cx="739545" cy="98642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88C4250-9EE5-6570-D368-443FCA667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570180" y="842745"/>
            <a:ext cx="739545" cy="986425"/>
          </a:xfrm>
          <a:prstGeom prst="rect">
            <a:avLst/>
          </a:prstGeom>
        </p:spPr>
      </p:pic>
      <p:sp>
        <p:nvSpPr>
          <p:cNvPr id="34" name="HeaderBg">
            <a:extLst>
              <a:ext uri="{FF2B5EF4-FFF2-40B4-BE49-F238E27FC236}">
                <a16:creationId xmlns:a16="http://schemas.microsoft.com/office/drawing/2014/main" id="{88070EFC-2F57-1960-8D5A-BF91FE0A9FE0}"/>
              </a:ext>
            </a:extLst>
          </p:cNvPr>
          <p:cNvSpPr/>
          <p:nvPr/>
        </p:nvSpPr>
        <p:spPr>
          <a:xfrm>
            <a:off x="1183" y="0"/>
            <a:ext cx="9221530" cy="65335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itle">
            <a:extLst>
              <a:ext uri="{FF2B5EF4-FFF2-40B4-BE49-F238E27FC236}">
                <a16:creationId xmlns:a16="http://schemas.microsoft.com/office/drawing/2014/main" id="{2AF47D41-3933-23C5-B970-22A279A164D0}"/>
              </a:ext>
            </a:extLst>
          </p:cNvPr>
          <p:cNvSpPr/>
          <p:nvPr/>
        </p:nvSpPr>
        <p:spPr>
          <a:xfrm>
            <a:off x="270614" y="61284"/>
            <a:ext cx="8827683" cy="533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200"/>
              </a:lnSpc>
            </a:pPr>
            <a:r>
              <a:rPr lang="ja-JP" altLang="en-US" sz="32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上石神井駅周辺の交通状況（例）①</a:t>
            </a:r>
            <a:endParaRPr lang="en-US" sz="3200" dirty="0">
              <a:latin typeface="Arial"/>
              <a:cs typeface="Arial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FCDB282-DFAB-FB3A-109E-E762FB7A0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165" y="2374316"/>
            <a:ext cx="1321145" cy="939209"/>
          </a:xfrm>
          <a:prstGeom prst="rect">
            <a:avLst/>
          </a:prstGeom>
        </p:spPr>
      </p:pic>
      <p:sp>
        <p:nvSpPr>
          <p:cNvPr id="46" name="Star: 7 Points 45">
            <a:extLst>
              <a:ext uri="{FF2B5EF4-FFF2-40B4-BE49-F238E27FC236}">
                <a16:creationId xmlns:a16="http://schemas.microsoft.com/office/drawing/2014/main" id="{9D8C1425-F968-CC2C-1CA3-1919406E2C27}"/>
              </a:ext>
            </a:extLst>
          </p:cNvPr>
          <p:cNvSpPr/>
          <p:nvPr/>
        </p:nvSpPr>
        <p:spPr>
          <a:xfrm>
            <a:off x="3919244" y="1423085"/>
            <a:ext cx="1754897" cy="814258"/>
          </a:xfrm>
          <a:prstGeom prst="star7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ea typeface="游ゴシック"/>
                <a:cs typeface="Calibri"/>
              </a:rPr>
              <a:t>狭い</a:t>
            </a:r>
            <a:endParaRPr lang="en-US" b="1" dirty="0">
              <a:ea typeface="游ゴシック"/>
              <a:cs typeface="Calibri"/>
            </a:endParaRPr>
          </a:p>
        </p:txBody>
      </p:sp>
      <p:sp>
        <p:nvSpPr>
          <p:cNvPr id="47" name="Star: 7 Points 46">
            <a:extLst>
              <a:ext uri="{FF2B5EF4-FFF2-40B4-BE49-F238E27FC236}">
                <a16:creationId xmlns:a16="http://schemas.microsoft.com/office/drawing/2014/main" id="{282974BF-E655-FE0F-97A4-21C7FEA22E44}"/>
              </a:ext>
            </a:extLst>
          </p:cNvPr>
          <p:cNvSpPr/>
          <p:nvPr/>
        </p:nvSpPr>
        <p:spPr>
          <a:xfrm>
            <a:off x="3919823" y="2737501"/>
            <a:ext cx="1754897" cy="814258"/>
          </a:xfrm>
          <a:prstGeom prst="star7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ea typeface="游ゴシック"/>
                <a:cs typeface="Calibri"/>
              </a:rPr>
              <a:t>狭い</a:t>
            </a:r>
            <a:endParaRPr lang="en-US" b="1" dirty="0">
              <a:ea typeface="游ゴシック"/>
              <a:cs typeface="Calibri"/>
            </a:endParaRPr>
          </a:p>
        </p:txBody>
      </p:sp>
      <p:sp>
        <p:nvSpPr>
          <p:cNvPr id="48" name="Text 2">
            <a:extLst>
              <a:ext uri="{FF2B5EF4-FFF2-40B4-BE49-F238E27FC236}">
                <a16:creationId xmlns:a16="http://schemas.microsoft.com/office/drawing/2014/main" id="{D8E63F47-BC72-7BD2-0DD7-883628929A9F}"/>
              </a:ext>
            </a:extLst>
          </p:cNvPr>
          <p:cNvSpPr/>
          <p:nvPr/>
        </p:nvSpPr>
        <p:spPr>
          <a:xfrm>
            <a:off x="393700" y="2374316"/>
            <a:ext cx="2596526" cy="698141"/>
          </a:xfrm>
          <a:prstGeom prst="roundRect">
            <a:avLst>
              <a:gd name="adj" fmla="val 16857"/>
            </a:avLst>
          </a:prstGeom>
          <a:solidFill>
            <a:srgbClr val="1E3A8A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b="1" dirty="0">
                <a:solidFill>
                  <a:schemeClr val="bg1"/>
                </a:solidFill>
                <a:ea typeface="Calibri"/>
                <a:cs typeface="Calibri"/>
              </a:rPr>
              <a:t>ロータリーを出るバス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A41357F-3E4B-0422-D0C3-1188C37CD154}"/>
              </a:ext>
            </a:extLst>
          </p:cNvPr>
          <p:cNvSpPr/>
          <p:nvPr/>
        </p:nvSpPr>
        <p:spPr>
          <a:xfrm>
            <a:off x="-101168" y="654050"/>
            <a:ext cx="9426231" cy="4927526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15C6AE2A-F571-1ACE-7BA3-EC969198E344}"/>
              </a:ext>
            </a:extLst>
          </p:cNvPr>
          <p:cNvSpPr/>
          <p:nvPr/>
        </p:nvSpPr>
        <p:spPr>
          <a:xfrm>
            <a:off x="2368262" y="1007969"/>
            <a:ext cx="4487368" cy="1209763"/>
          </a:xfrm>
          <a:prstGeom prst="roundRect">
            <a:avLst>
              <a:gd name="adj" fmla="val 16857"/>
            </a:avLst>
          </a:prstGeom>
          <a:solidFill>
            <a:srgbClr val="F97316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3200" b="1" dirty="0">
                <a:solidFill>
                  <a:schemeClr val="bg1"/>
                </a:solidFill>
                <a:latin typeface="Aptos"/>
                <a:ea typeface="游ゴシック"/>
              </a:rPr>
              <a:t>停車中のバスがあり</a:t>
            </a:r>
            <a:br>
              <a:rPr lang="ja-JP" altLang="en-US" sz="3200" b="1" dirty="0">
                <a:solidFill>
                  <a:schemeClr val="bg1"/>
                </a:solidFill>
                <a:latin typeface="Aptos"/>
                <a:ea typeface="游ゴシック"/>
              </a:rPr>
            </a:br>
            <a:r>
              <a:rPr lang="ja-JP" altLang="en-US" sz="3200" b="1" dirty="0">
                <a:solidFill>
                  <a:schemeClr val="bg1"/>
                </a:solidFill>
                <a:latin typeface="Aptos"/>
                <a:ea typeface="游ゴシック"/>
              </a:rPr>
              <a:t>道が狭く曲がりにくい</a:t>
            </a:r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A0E88BE8-B73C-E08C-A984-93455DC83240}"/>
              </a:ext>
            </a:extLst>
          </p:cNvPr>
          <p:cNvSpPr/>
          <p:nvPr/>
        </p:nvSpPr>
        <p:spPr>
          <a:xfrm>
            <a:off x="3827211" y="2436159"/>
            <a:ext cx="1582132" cy="8129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8F5AD875-B199-99AA-364F-38DDAC4E12B4}"/>
              </a:ext>
            </a:extLst>
          </p:cNvPr>
          <p:cNvSpPr/>
          <p:nvPr/>
        </p:nvSpPr>
        <p:spPr>
          <a:xfrm>
            <a:off x="2159546" y="3490515"/>
            <a:ext cx="4904799" cy="725172"/>
          </a:xfrm>
          <a:prstGeom prst="roundRect">
            <a:avLst>
              <a:gd name="adj" fmla="val 16857"/>
            </a:avLst>
          </a:prstGeom>
          <a:solidFill>
            <a:srgbClr val="DC2626"/>
          </a:solidFill>
          <a:ln w="28575">
            <a:solidFill>
              <a:srgbClr val="991B1B"/>
            </a:solidFill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3200" b="1" u="sng" dirty="0">
                <a:solidFill>
                  <a:schemeClr val="bg1"/>
                </a:solidFill>
                <a:latin typeface="Aptos"/>
                <a:ea typeface="游ゴシック"/>
              </a:rPr>
              <a:t>渋滞・バスの遅延が発生</a:t>
            </a:r>
            <a:endParaRPr lang="ja-JP" altLang="en-US" sz="3200" b="1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animRot by="-5400000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22222E-6 L 0.06059 2.22222E-6 C 0.08802 2.22222E-6 0.09566 -0.00278 0.11198 -0.02192 C 0.12691 -0.03673 0.12309 -0.06636 0.12309 -0.07192 " pathEditMode="relative" rAng="0" ptsTypes="AAAA">
                                      <p:cBhvr>
                                        <p:cTn id="32" dur="3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81" y="-3611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uild="allAtOnce" animBg="1"/>
      <p:bldP spid="47" grpId="0" build="allAtOnce" animBg="1"/>
      <p:bldP spid="48" grpId="0" animBg="1"/>
      <p:bldP spid="53" grpId="0" animBg="1"/>
      <p:bldP spid="54" grpId="0" animBg="1"/>
      <p:bldP spid="55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5FE6-7F27-D12E-8F4B-B6005392B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603D508A-3B35-1184-6427-B926E61AC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6455" y="653208"/>
            <a:ext cx="11296909" cy="532063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6B37D70-D6B9-4880-3287-2B3006174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286" y="3072457"/>
            <a:ext cx="739545" cy="98642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059A8C3-F6B4-FBE7-CF11-B4D54BA86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577825" y="527410"/>
            <a:ext cx="739545" cy="986425"/>
          </a:xfrm>
          <a:prstGeom prst="rect">
            <a:avLst/>
          </a:prstGeom>
        </p:spPr>
      </p:pic>
      <p:sp>
        <p:nvSpPr>
          <p:cNvPr id="34" name="HeaderBg">
            <a:extLst>
              <a:ext uri="{FF2B5EF4-FFF2-40B4-BE49-F238E27FC236}">
                <a16:creationId xmlns:a16="http://schemas.microsoft.com/office/drawing/2014/main" id="{255E34A1-5BA1-2DC5-4C16-55D68166F3EA}"/>
              </a:ext>
            </a:extLst>
          </p:cNvPr>
          <p:cNvSpPr/>
          <p:nvPr/>
        </p:nvSpPr>
        <p:spPr>
          <a:xfrm>
            <a:off x="1183" y="0"/>
            <a:ext cx="9221530" cy="65335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itle">
            <a:extLst>
              <a:ext uri="{FF2B5EF4-FFF2-40B4-BE49-F238E27FC236}">
                <a16:creationId xmlns:a16="http://schemas.microsoft.com/office/drawing/2014/main" id="{9740846C-A728-BD5B-B85F-6B0D130D36DB}"/>
              </a:ext>
            </a:extLst>
          </p:cNvPr>
          <p:cNvSpPr/>
          <p:nvPr/>
        </p:nvSpPr>
        <p:spPr>
          <a:xfrm>
            <a:off x="270614" y="61284"/>
            <a:ext cx="8827683" cy="533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200"/>
              </a:lnSpc>
            </a:pPr>
            <a:r>
              <a:rPr lang="ja-JP" altLang="en-US" sz="32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上石神井駅周辺の交通状況（例）②</a:t>
            </a:r>
            <a:endParaRPr lang="en-US" sz="3200" dirty="0">
              <a:latin typeface="Arial"/>
              <a:cs typeface="Arial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79B4B15-D27C-22EB-E5FB-16C77D9C2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165" y="2374316"/>
            <a:ext cx="1321145" cy="939209"/>
          </a:xfrm>
          <a:prstGeom prst="rect">
            <a:avLst/>
          </a:prstGeom>
        </p:spPr>
      </p:pic>
      <p:sp>
        <p:nvSpPr>
          <p:cNvPr id="48" name="Text 2">
            <a:extLst>
              <a:ext uri="{FF2B5EF4-FFF2-40B4-BE49-F238E27FC236}">
                <a16:creationId xmlns:a16="http://schemas.microsoft.com/office/drawing/2014/main" id="{B1549EB9-CD47-8403-D5CF-021D38E50212}"/>
              </a:ext>
            </a:extLst>
          </p:cNvPr>
          <p:cNvSpPr/>
          <p:nvPr/>
        </p:nvSpPr>
        <p:spPr>
          <a:xfrm>
            <a:off x="350988" y="2374316"/>
            <a:ext cx="2596526" cy="698141"/>
          </a:xfrm>
          <a:prstGeom prst="roundRect">
            <a:avLst>
              <a:gd name="adj" fmla="val 16857"/>
            </a:avLst>
          </a:prstGeom>
          <a:solidFill>
            <a:srgbClr val="1E3A8A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b="1" dirty="0">
                <a:solidFill>
                  <a:schemeClr val="bg1"/>
                </a:solidFill>
                <a:ea typeface="Calibri"/>
                <a:cs typeface="Calibri"/>
              </a:rPr>
              <a:t>ロータリーを出るバス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607C3A-7D7E-9C3C-8CD6-A741F55AE960}"/>
              </a:ext>
            </a:extLst>
          </p:cNvPr>
          <p:cNvSpPr/>
          <p:nvPr/>
        </p:nvSpPr>
        <p:spPr>
          <a:xfrm>
            <a:off x="5527266" y="2156162"/>
            <a:ext cx="1782993" cy="567224"/>
          </a:xfrm>
          <a:prstGeom prst="roundRect">
            <a:avLst>
              <a:gd name="adj" fmla="val 16857"/>
            </a:avLst>
          </a:prstGeom>
          <a:solidFill>
            <a:srgbClr val="1E3A8A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b="1" dirty="0">
                <a:solidFill>
                  <a:schemeClr val="bg1"/>
                </a:solidFill>
                <a:ea typeface="Calibri"/>
                <a:cs typeface="Calibri"/>
              </a:rPr>
              <a:t>停車中のバス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6A636C5-5958-1D51-53BD-6D0B160AF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459250" y="1777794"/>
            <a:ext cx="1321145" cy="939209"/>
          </a:xfrm>
          <a:prstGeom prst="rect">
            <a:avLst/>
          </a:prstGeom>
        </p:spPr>
      </p:pic>
      <p:sp>
        <p:nvSpPr>
          <p:cNvPr id="46" name="Star: 7 Points 45">
            <a:extLst>
              <a:ext uri="{FF2B5EF4-FFF2-40B4-BE49-F238E27FC236}">
                <a16:creationId xmlns:a16="http://schemas.microsoft.com/office/drawing/2014/main" id="{A79C0743-BAF4-E3AE-3D54-5CC4278AAD2F}"/>
              </a:ext>
            </a:extLst>
          </p:cNvPr>
          <p:cNvSpPr/>
          <p:nvPr/>
        </p:nvSpPr>
        <p:spPr>
          <a:xfrm>
            <a:off x="3820882" y="2221655"/>
            <a:ext cx="1754897" cy="814258"/>
          </a:xfrm>
          <a:prstGeom prst="star7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ea typeface="游ゴシック"/>
                <a:cs typeface="Calibri"/>
              </a:rPr>
              <a:t>狭い</a:t>
            </a:r>
            <a:endParaRPr lang="en-US" b="1" dirty="0">
              <a:ea typeface="游ゴシック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D792A15-EBBD-A9A8-5460-EC6293864D31}"/>
              </a:ext>
            </a:extLst>
          </p:cNvPr>
          <p:cNvSpPr/>
          <p:nvPr/>
        </p:nvSpPr>
        <p:spPr>
          <a:xfrm>
            <a:off x="-101168" y="653208"/>
            <a:ext cx="9426231" cy="4927526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C2CD3260-4AA9-FFFC-94B7-9AC44B778DF9}"/>
              </a:ext>
            </a:extLst>
          </p:cNvPr>
          <p:cNvSpPr/>
          <p:nvPr/>
        </p:nvSpPr>
        <p:spPr>
          <a:xfrm>
            <a:off x="2398332" y="808968"/>
            <a:ext cx="4347331" cy="1638339"/>
          </a:xfrm>
          <a:prstGeom prst="roundRect">
            <a:avLst>
              <a:gd name="adj" fmla="val 16857"/>
            </a:avLst>
          </a:prstGeom>
          <a:solidFill>
            <a:srgbClr val="F97316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3200" b="1" dirty="0">
                <a:solidFill>
                  <a:schemeClr val="bg1"/>
                </a:solidFill>
                <a:latin typeface="Aptos"/>
                <a:ea typeface="游ゴシック"/>
              </a:rPr>
              <a:t>道が狭くて</a:t>
            </a:r>
            <a:br>
              <a:rPr lang="ja-JP" altLang="en-US" sz="3200" b="1" dirty="0">
                <a:latin typeface="Aptos"/>
              </a:rPr>
            </a:br>
            <a:r>
              <a:rPr lang="ja-JP" altLang="en-US" sz="3200" b="1" dirty="0">
                <a:solidFill>
                  <a:schemeClr val="bg1"/>
                </a:solidFill>
                <a:latin typeface="Aptos"/>
                <a:ea typeface="游ゴシック"/>
              </a:rPr>
              <a:t>バスが道路を</a:t>
            </a:r>
            <a:endParaRPr lang="en-US" altLang="ja-JP" sz="3200" b="1" dirty="0">
              <a:solidFill>
                <a:schemeClr val="bg1"/>
              </a:solidFill>
              <a:latin typeface="Aptos"/>
              <a:ea typeface="游ゴシック"/>
            </a:endParaRPr>
          </a:p>
          <a:p>
            <a:pPr algn="ctr"/>
            <a:r>
              <a:rPr lang="ja-JP" altLang="en-US" sz="3200" b="1" dirty="0">
                <a:solidFill>
                  <a:schemeClr val="bg1"/>
                </a:solidFill>
                <a:latin typeface="Aptos"/>
                <a:ea typeface="游ゴシック"/>
              </a:rPr>
              <a:t>塞いでしまう</a:t>
            </a:r>
            <a:endParaRPr lang="en-US" sz="3200" dirty="0">
              <a:solidFill>
                <a:schemeClr val="bg1"/>
              </a:solidFill>
              <a:latin typeface="Aptos"/>
              <a:ea typeface="游ゴシック"/>
            </a:endParaRPr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467A9452-A878-3DDD-1543-558851F484CD}"/>
              </a:ext>
            </a:extLst>
          </p:cNvPr>
          <p:cNvSpPr/>
          <p:nvPr/>
        </p:nvSpPr>
        <p:spPr>
          <a:xfrm>
            <a:off x="3780930" y="2609748"/>
            <a:ext cx="1582132" cy="8129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89DA346A-202E-2BC1-149A-B660A3581A5E}"/>
              </a:ext>
            </a:extLst>
          </p:cNvPr>
          <p:cNvSpPr/>
          <p:nvPr/>
        </p:nvSpPr>
        <p:spPr>
          <a:xfrm>
            <a:off x="2036121" y="3530265"/>
            <a:ext cx="5071749" cy="725172"/>
          </a:xfrm>
          <a:prstGeom prst="roundRect">
            <a:avLst>
              <a:gd name="adj" fmla="val 16857"/>
            </a:avLst>
          </a:prstGeom>
          <a:solidFill>
            <a:srgbClr val="DC2626"/>
          </a:solidFill>
          <a:ln w="28575">
            <a:solidFill>
              <a:srgbClr val="991B1B"/>
            </a:solidFill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3200" b="1" u="sng" dirty="0">
                <a:solidFill>
                  <a:schemeClr val="bg1"/>
                </a:solidFill>
                <a:latin typeface="Aptos"/>
                <a:ea typeface="游ゴシック"/>
              </a:rPr>
              <a:t>渋滞・バスの遅延が発生</a:t>
            </a:r>
            <a:endParaRPr lang="ja-JP" altLang="en-US" sz="32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4039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1200"/>
                                  </p:stCondLst>
                                  <p:childTnLst>
                                    <p:animRot by="-5400000">
                                      <p:cBhvr>
                                        <p:cTn id="2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4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22222E-6 L 0.06024 2.22222E-6 C 0.08767 2.22222E-6 0.08351 0.00062 0.09983 -0.01821 C 0.11476 -0.03303 0.11233 -0.0713 0.11233 -0.07685 " pathEditMode="relative" rAng="0" ptsTypes="AAAA">
                                      <p:cBhvr>
                                        <p:cTn id="24" dur="3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-385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" grpId="0" animBg="1"/>
      <p:bldP spid="46" grpId="0" build="allAtOnce" animBg="1"/>
      <p:bldP spid="53" grpId="0" animBg="1"/>
      <p:bldP spid="54" grpId="0" animBg="1"/>
      <p:bldP spid="55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3D357-F17D-EF95-F121-47569BA76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8EF70F86-C9B5-AD95-B445-D85E1A5F0B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82" t="39125" r="26526" b="5190"/>
          <a:stretch>
            <a:fillRect/>
          </a:stretch>
        </p:blipFill>
        <p:spPr>
          <a:xfrm>
            <a:off x="270614" y="1049669"/>
            <a:ext cx="4045387" cy="2575560"/>
          </a:xfrm>
          <a:prstGeom prst="rect">
            <a:avLst/>
          </a:prstGeom>
        </p:spPr>
      </p:pic>
      <p:sp>
        <p:nvSpPr>
          <p:cNvPr id="34" name="HeaderBg">
            <a:extLst>
              <a:ext uri="{FF2B5EF4-FFF2-40B4-BE49-F238E27FC236}">
                <a16:creationId xmlns:a16="http://schemas.microsoft.com/office/drawing/2014/main" id="{37D0289F-9002-54FE-09F2-51B284B25C6A}"/>
              </a:ext>
            </a:extLst>
          </p:cNvPr>
          <p:cNvSpPr/>
          <p:nvPr/>
        </p:nvSpPr>
        <p:spPr>
          <a:xfrm>
            <a:off x="1183" y="0"/>
            <a:ext cx="9221530" cy="65335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itle">
            <a:extLst>
              <a:ext uri="{FF2B5EF4-FFF2-40B4-BE49-F238E27FC236}">
                <a16:creationId xmlns:a16="http://schemas.microsoft.com/office/drawing/2014/main" id="{1C4CD66A-FCD1-4CB5-04F1-9DF95CC180A0}"/>
              </a:ext>
            </a:extLst>
          </p:cNvPr>
          <p:cNvSpPr/>
          <p:nvPr/>
        </p:nvSpPr>
        <p:spPr>
          <a:xfrm>
            <a:off x="270614" y="61284"/>
            <a:ext cx="8827683" cy="533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200"/>
              </a:lnSpc>
            </a:pPr>
            <a:r>
              <a:rPr lang="ja-JP" altLang="en-US" sz="32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上石神井駅周辺の交通状況（例）③</a:t>
            </a:r>
            <a:endParaRPr lang="en-US" sz="3200" dirty="0">
              <a:latin typeface="Arial"/>
              <a:cs typeface="Arial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7E200B-F06E-FB98-2856-1EFBEBB327EF}"/>
              </a:ext>
            </a:extLst>
          </p:cNvPr>
          <p:cNvSpPr/>
          <p:nvPr/>
        </p:nvSpPr>
        <p:spPr>
          <a:xfrm>
            <a:off x="4503816" y="1101331"/>
            <a:ext cx="4487368" cy="1209763"/>
          </a:xfrm>
          <a:prstGeom prst="roundRect">
            <a:avLst>
              <a:gd name="adj" fmla="val 16857"/>
            </a:avLst>
          </a:prstGeom>
          <a:solidFill>
            <a:srgbClr val="F97316"/>
          </a:solidFill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3200" b="1" dirty="0">
                <a:solidFill>
                  <a:schemeClr val="bg1"/>
                </a:solidFill>
                <a:latin typeface="Aptos"/>
                <a:ea typeface="游ゴシック"/>
              </a:rPr>
              <a:t>朝の時間は踏切が</a:t>
            </a:r>
            <a:endParaRPr lang="en-US" altLang="ja-JP" sz="3200" b="1" dirty="0">
              <a:solidFill>
                <a:schemeClr val="bg1"/>
              </a:solidFill>
              <a:latin typeface="Aptos"/>
              <a:ea typeface="游ゴシック"/>
            </a:endParaRPr>
          </a:p>
          <a:p>
            <a:pPr algn="ctr"/>
            <a:r>
              <a:rPr lang="ja-JP" altLang="en-US" sz="3200" b="1" dirty="0">
                <a:solidFill>
                  <a:schemeClr val="bg1"/>
                </a:solidFill>
                <a:latin typeface="Aptos"/>
                <a:ea typeface="游ゴシック"/>
              </a:rPr>
              <a:t>開かない</a:t>
            </a:r>
          </a:p>
        </p:txBody>
      </p:sp>
      <p:sp>
        <p:nvSpPr>
          <p:cNvPr id="7" name="Arrow: Down 54">
            <a:extLst>
              <a:ext uri="{FF2B5EF4-FFF2-40B4-BE49-F238E27FC236}">
                <a16:creationId xmlns:a16="http://schemas.microsoft.com/office/drawing/2014/main" id="{D850A3D6-A834-B6E9-ED91-7C7464031B73}"/>
              </a:ext>
            </a:extLst>
          </p:cNvPr>
          <p:cNvSpPr/>
          <p:nvPr/>
        </p:nvSpPr>
        <p:spPr>
          <a:xfrm>
            <a:off x="5956434" y="2649371"/>
            <a:ext cx="1582132" cy="8129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A25694D-373F-23C3-15BD-F3F00FCB6F2A}"/>
              </a:ext>
            </a:extLst>
          </p:cNvPr>
          <p:cNvSpPr/>
          <p:nvPr/>
        </p:nvSpPr>
        <p:spPr>
          <a:xfrm>
            <a:off x="4086385" y="3800563"/>
            <a:ext cx="4904799" cy="725172"/>
          </a:xfrm>
          <a:prstGeom prst="roundRect">
            <a:avLst>
              <a:gd name="adj" fmla="val 16857"/>
            </a:avLst>
          </a:prstGeom>
          <a:solidFill>
            <a:srgbClr val="DC2626"/>
          </a:solidFill>
          <a:ln w="28575">
            <a:solidFill>
              <a:srgbClr val="991B1B"/>
            </a:solidFill>
          </a:ln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3200" b="1" u="sng" dirty="0">
                <a:solidFill>
                  <a:schemeClr val="bg1"/>
                </a:solidFill>
                <a:latin typeface="Aptos"/>
                <a:ea typeface="游ゴシック"/>
              </a:rPr>
              <a:t>渋滞・バスの遅延が発生</a:t>
            </a:r>
            <a:endParaRPr lang="ja-JP" altLang="en-US" sz="32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8700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47241-98B0-29E4-02B3-BF2D4734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f7cbc6d.png">
            <a:extLst>
              <a:ext uri="{FF2B5EF4-FFF2-40B4-BE49-F238E27FC236}">
                <a16:creationId xmlns:a16="http://schemas.microsoft.com/office/drawing/2014/main" id="{877B4987-48BA-756E-AE09-3A24DF421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457CCA4-7E79-23A0-F08F-6B6C56F95C79}"/>
              </a:ext>
            </a:extLst>
          </p:cNvPr>
          <p:cNvSpPr/>
          <p:nvPr/>
        </p:nvSpPr>
        <p:spPr>
          <a:xfrm>
            <a:off x="26670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</a:t>
            </a:r>
            <a:endParaRPr lang="en-US" sz="3000"/>
          </a:p>
        </p:txBody>
      </p:sp>
      <p:pic>
        <p:nvPicPr>
          <p:cNvPr id="4" name="Image 1" descr="/tmp/rasterized-gradient-5d45cd48.png">
            <a:extLst>
              <a:ext uri="{FF2B5EF4-FFF2-40B4-BE49-F238E27FC236}">
                <a16:creationId xmlns:a16="http://schemas.microsoft.com/office/drawing/2014/main" id="{A258F354-3904-0728-0AE1-EA4477DBF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83897"/>
            <a:ext cx="8382000" cy="2074754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0E583A77-5A2B-76E1-6326-95950EB8F301}"/>
              </a:ext>
            </a:extLst>
          </p:cNvPr>
          <p:cNvSpPr/>
          <p:nvPr/>
        </p:nvSpPr>
        <p:spPr>
          <a:xfrm>
            <a:off x="579122" y="1312594"/>
            <a:ext cx="698203" cy="704849"/>
          </a:xfrm>
          <a:prstGeom prst="roundRect">
            <a:avLst>
              <a:gd name="adj" fmla="val 218182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3167095-D9C3-BE90-866B-1A5B5069F26E}"/>
              </a:ext>
            </a:extLst>
          </p:cNvPr>
          <p:cNvSpPr/>
          <p:nvPr/>
        </p:nvSpPr>
        <p:spPr>
          <a:xfrm>
            <a:off x="786906" y="1504372"/>
            <a:ext cx="282636" cy="51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1</a:t>
            </a:r>
            <a:endParaRPr lang="en-US" sz="4000" dirty="0">
              <a:latin typeface="Arial"/>
              <a:ea typeface="Calibri"/>
              <a:cs typeface="Arial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CA755D6-0790-B661-C2B0-DAA4E3499426}"/>
              </a:ext>
            </a:extLst>
          </p:cNvPr>
          <p:cNvSpPr/>
          <p:nvPr/>
        </p:nvSpPr>
        <p:spPr>
          <a:xfrm>
            <a:off x="1411916" y="1715819"/>
            <a:ext cx="6468582" cy="418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3"/>
              </a:lnSpc>
              <a:spcAft>
                <a:spcPts val="600"/>
              </a:spcAft>
              <a:buNone/>
            </a:pPr>
            <a:r>
              <a:rPr lang="en-US" sz="5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AIを用いた交通誘導</a:t>
            </a:r>
            <a:endParaRPr lang="en-US" sz="5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4F34ED0-5255-A751-4B4A-936C7909DB25}"/>
              </a:ext>
            </a:extLst>
          </p:cNvPr>
          <p:cNvSpPr/>
          <p:nvPr/>
        </p:nvSpPr>
        <p:spPr>
          <a:xfrm>
            <a:off x="1411916" y="2505616"/>
            <a:ext cx="6909905" cy="49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300"/>
              </a:spcAft>
              <a:buNone/>
            </a:pPr>
            <a:r>
              <a:rPr lang="ja-JP" altLang="en-US" sz="3200">
                <a:solidFill>
                  <a:srgbClr val="FFFFFF"/>
                </a:solidFill>
                <a:latin typeface="Arial"/>
                <a:cs typeface="Arial"/>
              </a:rPr>
              <a:t>様々なデータからナビゲーション</a:t>
            </a:r>
            <a:endParaRPr lang="en-US" sz="32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2060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23CC-4769-F63A-B767-6721EFB8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2" descr="/tmp/rasterized-gradient-25ee9180.png">
            <a:extLst>
              <a:ext uri="{FF2B5EF4-FFF2-40B4-BE49-F238E27FC236}">
                <a16:creationId xmlns:a16="http://schemas.microsoft.com/office/drawing/2014/main" id="{F024087F-43E4-1D81-702A-B450338FF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83897"/>
            <a:ext cx="8382000" cy="2074754"/>
          </a:xfrm>
          <a:prstGeom prst="rect">
            <a:avLst/>
          </a:prstGeom>
        </p:spPr>
      </p:pic>
      <p:pic>
        <p:nvPicPr>
          <p:cNvPr id="2" name="Image 0" descr="/tmp/rasterized-gradient-8f7cbc6d.png">
            <a:extLst>
              <a:ext uri="{FF2B5EF4-FFF2-40B4-BE49-F238E27FC236}">
                <a16:creationId xmlns:a16="http://schemas.microsoft.com/office/drawing/2014/main" id="{5D89B995-0C20-83D5-788C-78DFE3831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8F36C1D-7A79-C875-F460-EEF482A919C5}"/>
              </a:ext>
            </a:extLst>
          </p:cNvPr>
          <p:cNvSpPr/>
          <p:nvPr/>
        </p:nvSpPr>
        <p:spPr>
          <a:xfrm>
            <a:off x="26670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</a:t>
            </a:r>
            <a:endParaRPr lang="en-US" sz="30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36CA190-6E6E-08B5-3E76-9BAA0709B430}"/>
              </a:ext>
            </a:extLst>
          </p:cNvPr>
          <p:cNvSpPr/>
          <p:nvPr/>
        </p:nvSpPr>
        <p:spPr>
          <a:xfrm>
            <a:off x="579122" y="1312594"/>
            <a:ext cx="698203" cy="704849"/>
          </a:xfrm>
          <a:prstGeom prst="roundRect">
            <a:avLst>
              <a:gd name="adj" fmla="val 218182"/>
            </a:avLst>
          </a:prstGeom>
          <a:solidFill>
            <a:srgbClr val="2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6899EA5-7953-4363-42BD-0EC458973004}"/>
              </a:ext>
            </a:extLst>
          </p:cNvPr>
          <p:cNvSpPr/>
          <p:nvPr/>
        </p:nvSpPr>
        <p:spPr>
          <a:xfrm>
            <a:off x="786906" y="1504372"/>
            <a:ext cx="282636" cy="51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20"/>
              </a:lnSpc>
              <a:buNone/>
            </a:pPr>
            <a:r>
              <a:rPr lang="ja-JP" altLang="en-US" sz="4000" b="1" dirty="0">
                <a:solidFill>
                  <a:srgbClr val="FFFFFF"/>
                </a:solidFill>
                <a:latin typeface="Arial"/>
                <a:ea typeface="Calibri"/>
                <a:cs typeface="Arial"/>
              </a:rPr>
              <a:t>２</a:t>
            </a:r>
            <a:endParaRPr lang="en-US" sz="4000" dirty="0">
              <a:latin typeface="Arial"/>
              <a:ea typeface="Calibri"/>
              <a:cs typeface="Arial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BF99B33-8232-8D9B-4087-36F7EF575281}"/>
              </a:ext>
            </a:extLst>
          </p:cNvPr>
          <p:cNvSpPr/>
          <p:nvPr/>
        </p:nvSpPr>
        <p:spPr>
          <a:xfrm>
            <a:off x="1411916" y="1715819"/>
            <a:ext cx="6468582" cy="418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  <a:spcAft>
                <a:spcPts val="600"/>
              </a:spcAft>
            </a:pPr>
            <a:r>
              <a:rPr lang="en-US" altLang="ja-JP" sz="5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自動運転</a:t>
            </a:r>
            <a:endParaRPr lang="en-US" altLang="ja-JP" sz="5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2778896-5FA7-5BA1-F28C-307CD8206188}"/>
              </a:ext>
            </a:extLst>
          </p:cNvPr>
          <p:cNvSpPr/>
          <p:nvPr/>
        </p:nvSpPr>
        <p:spPr>
          <a:xfrm>
            <a:off x="1411916" y="2505616"/>
            <a:ext cx="6909905" cy="49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  <a:spcAft>
                <a:spcPts val="300"/>
              </a:spcAft>
            </a:pPr>
            <a:r>
              <a:rPr lang="ja-JP" altLang="en-US" sz="3200" dirty="0">
                <a:solidFill>
                  <a:srgbClr val="FFFFFF"/>
                </a:solidFill>
                <a:latin typeface="Arial"/>
                <a:ea typeface="游ゴシック"/>
                <a:cs typeface="Arial"/>
              </a:rPr>
              <a:t>バスなどに導入し、遅延解消</a:t>
            </a:r>
            <a:endParaRPr lang="en-US" altLang="ja-JP" sz="3200" dirty="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0067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DE4AF-C64C-3FD6-C7FE-03202CAA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f7cbc6d.png">
            <a:extLst>
              <a:ext uri="{FF2B5EF4-FFF2-40B4-BE49-F238E27FC236}">
                <a16:creationId xmlns:a16="http://schemas.microsoft.com/office/drawing/2014/main" id="{ECA8A8FC-6531-B147-FD7B-C3FA4AE62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1B686BD-CE6B-ABF7-5CED-BD1C9C17F4A0}"/>
              </a:ext>
            </a:extLst>
          </p:cNvPr>
          <p:cNvSpPr/>
          <p:nvPr/>
        </p:nvSpPr>
        <p:spPr>
          <a:xfrm>
            <a:off x="26670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</a:t>
            </a:r>
            <a:endParaRPr lang="en-US" sz="3000"/>
          </a:p>
        </p:txBody>
      </p:sp>
      <p:pic>
        <p:nvPicPr>
          <p:cNvPr id="4" name="Image 1" descr="/tmp/rasterized-gradient-5d45cd48.png">
            <a:extLst>
              <a:ext uri="{FF2B5EF4-FFF2-40B4-BE49-F238E27FC236}">
                <a16:creationId xmlns:a16="http://schemas.microsoft.com/office/drawing/2014/main" id="{7275E4B6-7B76-7677-7B76-1E57F5911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237059"/>
            <a:ext cx="8382000" cy="119092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3708A14D-13C0-2047-207C-7E25D12210E2}"/>
              </a:ext>
            </a:extLst>
          </p:cNvPr>
          <p:cNvSpPr/>
          <p:nvPr/>
        </p:nvSpPr>
        <p:spPr>
          <a:xfrm>
            <a:off x="647700" y="1605954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8222322-69E7-E341-37D6-AC6F90F7D5CF}"/>
              </a:ext>
            </a:extLst>
          </p:cNvPr>
          <p:cNvSpPr/>
          <p:nvPr/>
        </p:nvSpPr>
        <p:spPr>
          <a:xfrm>
            <a:off x="793552" y="1655514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71DC913-FAA8-4D08-95AC-B4CD0DB74B63}"/>
              </a:ext>
            </a:extLst>
          </p:cNvPr>
          <p:cNvSpPr/>
          <p:nvPr/>
        </p:nvSpPr>
        <p:spPr>
          <a:xfrm>
            <a:off x="1212652" y="1624408"/>
            <a:ext cx="7219950" cy="559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33"/>
              </a:lnSpc>
              <a:spcAft>
                <a:spcPts val="600"/>
              </a:spcAft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AIを用いた交通誘導</a:t>
            </a:r>
            <a:endParaRPr lang="en-US" sz="3200" dirty="0"/>
          </a:p>
        </p:txBody>
      </p:sp>
      <p:pic>
        <p:nvPicPr>
          <p:cNvPr id="10" name="Image 2" descr="/tmp/rasterized-gradient-25ee9180.png">
            <a:extLst>
              <a:ext uri="{FF2B5EF4-FFF2-40B4-BE49-F238E27FC236}">
                <a16:creationId xmlns:a16="http://schemas.microsoft.com/office/drawing/2014/main" id="{D1419828-7485-D0FB-3E01-6A3E76A14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599432"/>
            <a:ext cx="8382000" cy="1190923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A53A8BCF-4B8F-716D-BEF4-27C0BEFE28DB}"/>
              </a:ext>
            </a:extLst>
          </p:cNvPr>
          <p:cNvSpPr/>
          <p:nvPr/>
        </p:nvSpPr>
        <p:spPr>
          <a:xfrm>
            <a:off x="647700" y="2927152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7C53BE0-B78D-86CB-7CF8-C53E7189C3A3}"/>
              </a:ext>
            </a:extLst>
          </p:cNvPr>
          <p:cNvSpPr/>
          <p:nvPr/>
        </p:nvSpPr>
        <p:spPr>
          <a:xfrm>
            <a:off x="793552" y="2976712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81127A9-6AF8-1ED8-7FC8-B2CD36ABB1AC}"/>
              </a:ext>
            </a:extLst>
          </p:cNvPr>
          <p:cNvSpPr/>
          <p:nvPr/>
        </p:nvSpPr>
        <p:spPr>
          <a:xfrm>
            <a:off x="1212652" y="2866132"/>
            <a:ext cx="7219950" cy="759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33"/>
              </a:lnSpc>
              <a:spcAft>
                <a:spcPts val="600"/>
              </a:spcAft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自動運転</a:t>
            </a:r>
            <a:endParaRPr lang="en-US" sz="32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6B630A0-E4F8-CB7E-420B-B6DBF19A0A5E}"/>
              </a:ext>
            </a:extLst>
          </p:cNvPr>
          <p:cNvSpPr/>
          <p:nvPr/>
        </p:nvSpPr>
        <p:spPr>
          <a:xfrm>
            <a:off x="381000" y="3961805"/>
            <a:ext cx="8382000" cy="620911"/>
          </a:xfrm>
          <a:prstGeom prst="roundRect">
            <a:avLst>
              <a:gd name="adj" fmla="val 1534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94F16249-47B1-8D09-F59F-59086A685466}"/>
              </a:ext>
            </a:extLst>
          </p:cNvPr>
          <p:cNvSpPr/>
          <p:nvPr/>
        </p:nvSpPr>
        <p:spPr>
          <a:xfrm>
            <a:off x="404813" y="3961805"/>
            <a:ext cx="0" cy="620911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20BB0E9-D28B-7966-3DEA-803DD1B87F99}"/>
              </a:ext>
            </a:extLst>
          </p:cNvPr>
          <p:cNvSpPr/>
          <p:nvPr/>
        </p:nvSpPr>
        <p:spPr>
          <a:xfrm>
            <a:off x="647700" y="4152304"/>
            <a:ext cx="79569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2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交通問題</a:t>
            </a:r>
            <a:r>
              <a:rPr lang="ja-JP" alt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の解決へ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23324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0381c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根拠</a:t>
            </a:r>
            <a:endParaRPr lang="en-US" sz="3000"/>
          </a:p>
        </p:txBody>
      </p:sp>
      <p:sp>
        <p:nvSpPr>
          <p:cNvPr id="4" name="Text 1"/>
          <p:cNvSpPr/>
          <p:nvPr/>
        </p:nvSpPr>
        <p:spPr>
          <a:xfrm>
            <a:off x="400935" y="1446066"/>
            <a:ext cx="8362065" cy="1122856"/>
          </a:xfrm>
          <a:prstGeom prst="roundRect">
            <a:avLst>
              <a:gd name="adj" fmla="val 853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04813" y="1452711"/>
            <a:ext cx="0" cy="1116211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657225" y="1643211"/>
            <a:ext cx="803471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600" b="1" err="1">
                <a:solidFill>
                  <a:srgbClr val="1E3A8A"/>
                </a:solidFill>
                <a:latin typeface="Arial"/>
                <a:ea typeface="Arial" pitchFamily="34" charset="-122"/>
                <a:cs typeface="Arial"/>
              </a:rPr>
              <a:t>ナビゲーション技術の有効性</a:t>
            </a:r>
            <a:endParaRPr lang="en-US" sz="1600">
              <a:latin typeface="Arial"/>
              <a:ea typeface="Calibri"/>
              <a:cs typeface="Arial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7226" y="1934513"/>
            <a:ext cx="715753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 pitchFamily="34" charset="-122"/>
                <a:cs typeface="Arial"/>
              </a:rPr>
              <a:t>ナビゲーション技術は、便利であり、掲示順、表示内容を変えることで人の行動を意図的に変える力を持つ。AIで交通の状況を把握し、誘導することは可能である。</a:t>
            </a:r>
            <a:endParaRPr lang="en-US" sz="1200">
              <a:latin typeface="Arial"/>
              <a:ea typeface="Calibri"/>
              <a:cs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381000" y="2721322"/>
            <a:ext cx="8382000" cy="1560016"/>
          </a:xfrm>
          <a:prstGeom prst="roundRect">
            <a:avLst>
              <a:gd name="adj" fmla="val 610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9600" y="2911822"/>
            <a:ext cx="80832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自動運転の実用化事例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609600" y="3208883"/>
            <a:ext cx="3867150" cy="881955"/>
          </a:xfrm>
          <a:prstGeom prst="roundRect">
            <a:avLst>
              <a:gd name="adj" fmla="val 8640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2950" y="3342233"/>
            <a:ext cx="36724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100" b="1">
                <a:solidFill>
                  <a:srgbClr val="F97316"/>
                </a:solidFill>
                <a:latin typeface="Arial"/>
                <a:ea typeface="Arial" pitchFamily="34" charset="-122"/>
                <a:cs typeface="Arial"/>
              </a:rPr>
              <a:t>🇺</a:t>
            </a:r>
            <a:r>
              <a:rPr lang="en-US" sz="1200" b="1">
                <a:solidFill>
                  <a:srgbClr val="F97316"/>
                </a:solidFill>
                <a:latin typeface="Arial"/>
                <a:ea typeface="Arial" pitchFamily="34" charset="-122"/>
                <a:cs typeface="Arial"/>
              </a:rPr>
              <a:t>🇸 </a:t>
            </a:r>
            <a:r>
              <a:rPr lang="en-US" sz="1100" b="1" err="1">
                <a:solidFill>
                  <a:srgbClr val="F97316"/>
                </a:solidFill>
                <a:latin typeface="Arial"/>
                <a:ea typeface="Arial" pitchFamily="34" charset="-122"/>
                <a:cs typeface="Arial"/>
              </a:rPr>
              <a:t>アメリカ</a:t>
            </a:r>
            <a:endParaRPr lang="en-US" sz="1100" err="1">
              <a:latin typeface="Arial"/>
              <a:cs typeface="Arial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42950" y="3586014"/>
            <a:ext cx="367245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05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フェニックスやサンフランシスコに加え、ロサンゼルスなど主要都市で24時間の商用サービスを拡大中</a:t>
            </a:r>
            <a:endParaRPr lang="en-US" sz="1050">
              <a:latin typeface="Arial"/>
              <a:ea typeface="Calibri"/>
              <a:cs typeface="Arial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67250" y="3208882"/>
            <a:ext cx="3867150" cy="881955"/>
          </a:xfrm>
          <a:prstGeom prst="roundRect">
            <a:avLst>
              <a:gd name="adj" fmla="val 1094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00600" y="3342233"/>
            <a:ext cx="36724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100" b="1">
                <a:solidFill>
                  <a:srgbClr val="F97316"/>
                </a:solidFill>
                <a:latin typeface="Arial"/>
                <a:ea typeface="Arial" pitchFamily="34" charset="-122"/>
                <a:cs typeface="Arial"/>
              </a:rPr>
              <a:t>🇨</a:t>
            </a:r>
            <a:r>
              <a:rPr lang="en-US" sz="1200" b="1">
                <a:solidFill>
                  <a:srgbClr val="F97316"/>
                </a:solidFill>
                <a:latin typeface="Arial"/>
                <a:ea typeface="Arial" pitchFamily="34" charset="-122"/>
                <a:cs typeface="Arial"/>
              </a:rPr>
              <a:t>🇳</a:t>
            </a:r>
            <a:r>
              <a:rPr lang="en-US" sz="1100" b="1">
                <a:solidFill>
                  <a:srgbClr val="F97316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100" b="1" err="1">
                <a:solidFill>
                  <a:srgbClr val="F97316"/>
                </a:solidFill>
                <a:latin typeface="Arial"/>
                <a:ea typeface="Arial" pitchFamily="34" charset="-122"/>
                <a:cs typeface="Arial"/>
              </a:rPr>
              <a:t>中国</a:t>
            </a:r>
            <a:endParaRPr lang="en-US" sz="1100" err="1">
              <a:latin typeface="Arial"/>
              <a:ea typeface="Calibri"/>
              <a:cs typeface="Arial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52975" y="3586013"/>
            <a:ext cx="37338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050" dirty="0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武漢や北京などの特区で、大規模な無人タクシー艦隊が稼働中</a:t>
            </a:r>
            <a:endParaRPr lang="en-US" sz="1050" dirty="0">
              <a:latin typeface="Arial"/>
              <a:ea typeface="Calibri"/>
              <a:cs typeface="Arial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81000" y="4772025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出典：Cognitive Research: Principles and Implications</a:t>
            </a:r>
            <a:endParaRPr lang="en-US" sz="7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93B5-2637-DC52-3BAF-B7E2782A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A1430FFA-0667-65FE-0CE0-4240F527F7F0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9879A83-0539-74B4-FC5D-50202791FED3}"/>
              </a:ext>
            </a:extLst>
          </p:cNvPr>
          <p:cNvSpPr/>
          <p:nvPr/>
        </p:nvSpPr>
        <p:spPr>
          <a:xfrm>
            <a:off x="266700" y="285750"/>
            <a:ext cx="8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altLang="ja-JP" sz="3200" b="1" dirty="0">
                <a:solidFill>
                  <a:srgbClr val="1E3A8A"/>
                </a:solidFill>
                <a:latin typeface="Arial" pitchFamily="34" charset="0"/>
              </a:rPr>
              <a:t>AI</a:t>
            </a:r>
            <a:r>
              <a:rPr lang="ja-JP" altLang="en-US" sz="3200" b="1" dirty="0">
                <a:solidFill>
                  <a:srgbClr val="1E3A8A"/>
                </a:solidFill>
                <a:latin typeface="Arial" pitchFamily="34" charset="0"/>
              </a:rPr>
              <a:t>のシュミレーション</a:t>
            </a:r>
            <a:endParaRPr lang="en-US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B3AE919-756C-F146-2349-AD3E91D3B28E}"/>
              </a:ext>
            </a:extLst>
          </p:cNvPr>
          <p:cNvSpPr txBox="1"/>
          <p:nvPr/>
        </p:nvSpPr>
        <p:spPr>
          <a:xfrm>
            <a:off x="363815" y="1271988"/>
            <a:ext cx="84163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簡易的に用意したデータでシュミレーションを実施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45F34B-63BB-44F0-416F-988E0CAAF40E}"/>
              </a:ext>
            </a:extLst>
          </p:cNvPr>
          <p:cNvSpPr txBox="1"/>
          <p:nvPr/>
        </p:nvSpPr>
        <p:spPr>
          <a:xfrm>
            <a:off x="350331" y="2690816"/>
            <a:ext cx="58044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・</a:t>
            </a:r>
            <a:r>
              <a:rPr kumimoji="1" lang="en-US" altLang="ja-JP" sz="3200" dirty="0"/>
              <a:t>Python</a:t>
            </a:r>
            <a:r>
              <a:rPr kumimoji="1" lang="ja-JP" altLang="en-US" sz="3200" dirty="0"/>
              <a:t>、</a:t>
            </a:r>
            <a:r>
              <a:rPr kumimoji="1" lang="en-US" altLang="ja-JP" sz="3200" dirty="0"/>
              <a:t>Claude</a:t>
            </a:r>
            <a:r>
              <a:rPr kumimoji="1" lang="ja-JP" altLang="en-US" sz="3200" dirty="0"/>
              <a:t>を用いて検証</a:t>
            </a:r>
          </a:p>
        </p:txBody>
      </p:sp>
      <p:sp>
        <p:nvSpPr>
          <p:cNvPr id="13" name="AutoShape 4" descr="Python 素材 に対する画像結果">
            <a:extLst>
              <a:ext uri="{FF2B5EF4-FFF2-40B4-BE49-F238E27FC236}">
                <a16:creationId xmlns:a16="http://schemas.microsoft.com/office/drawing/2014/main" id="{1F1B7F11-4872-ACD7-96DD-CB35DDAC85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7825" y="2241550"/>
            <a:ext cx="16192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6AA7C3D-2F69-AF31-59E1-E4261ADDA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515" y="2915445"/>
            <a:ext cx="2603506" cy="2603506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211E4652-3FD8-6A49-9FD4-6BA158B48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165" y="3456609"/>
            <a:ext cx="2704315" cy="152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9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7EC3A-0744-66DE-B06E-E2B543826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713D2961-5211-A4BD-D3E3-DDFAE09DF2BE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FC82CC9-0394-DEBA-77E1-77C0ABCDFC28}"/>
              </a:ext>
            </a:extLst>
          </p:cNvPr>
          <p:cNvSpPr/>
          <p:nvPr/>
        </p:nvSpPr>
        <p:spPr>
          <a:xfrm>
            <a:off x="266700" y="285750"/>
            <a:ext cx="8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ja-JP" altLang="en-US" sz="3200" b="1" dirty="0">
                <a:solidFill>
                  <a:srgbClr val="1E3A8A"/>
                </a:solidFill>
                <a:latin typeface="Arial" pitchFamily="34" charset="0"/>
              </a:rPr>
              <a:t>検証について</a:t>
            </a:r>
            <a:endParaRPr lang="en-US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FA190DD-4361-DDF4-0835-AACA01B8DE56}"/>
              </a:ext>
            </a:extLst>
          </p:cNvPr>
          <p:cNvSpPr txBox="1"/>
          <p:nvPr/>
        </p:nvSpPr>
        <p:spPr>
          <a:xfrm>
            <a:off x="525864" y="1346362"/>
            <a:ext cx="841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・７～９時</a:t>
            </a:r>
            <a:r>
              <a:rPr kumimoji="1" lang="ja-JP" altLang="en-US" sz="3200" dirty="0"/>
              <a:t>の</a:t>
            </a:r>
            <a:r>
              <a:rPr kumimoji="1" lang="ja-JP" altLang="en-US" sz="3200" b="1" dirty="0"/>
              <a:t>混雑する時間帯</a:t>
            </a:r>
            <a:endParaRPr kumimoji="1" lang="ja-JP" altLang="en-US" sz="3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FAB2F3D-2263-42F9-F6DB-B95BFC52DF19}"/>
              </a:ext>
            </a:extLst>
          </p:cNvPr>
          <p:cNvSpPr txBox="1"/>
          <p:nvPr/>
        </p:nvSpPr>
        <p:spPr>
          <a:xfrm>
            <a:off x="525864" y="2279361"/>
            <a:ext cx="79816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・</a:t>
            </a:r>
            <a:r>
              <a:rPr kumimoji="1" lang="ja-JP" altLang="en-US" sz="3200" b="1" dirty="0"/>
              <a:t>交通量</a:t>
            </a:r>
            <a:r>
              <a:rPr kumimoji="1" lang="ja-JP" altLang="en-US" sz="3200" dirty="0"/>
              <a:t>・</a:t>
            </a:r>
            <a:r>
              <a:rPr kumimoji="1" lang="ja-JP" altLang="en-US" sz="3200" b="1" dirty="0"/>
              <a:t>バスの定時運行</a:t>
            </a:r>
            <a:r>
              <a:rPr kumimoji="1" lang="ja-JP" altLang="en-US" sz="3200" dirty="0"/>
              <a:t>についてを検証</a:t>
            </a:r>
          </a:p>
        </p:txBody>
      </p:sp>
      <p:sp>
        <p:nvSpPr>
          <p:cNvPr id="13" name="AutoShape 4" descr="Python 素材 に対する画像結果">
            <a:extLst>
              <a:ext uri="{FF2B5EF4-FFF2-40B4-BE49-F238E27FC236}">
                <a16:creationId xmlns:a16="http://schemas.microsoft.com/office/drawing/2014/main" id="{686EE373-03D7-75A6-027C-14B9C8BC57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7825" y="2241550"/>
            <a:ext cx="161925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90831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6AFC1-2404-B5D6-CFFB-0A575DFB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746ADE88-D8C2-EBDC-3EBE-DC79B2EFCE43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2F0487C-0EDC-1F97-DC4A-4CEABD797613}"/>
              </a:ext>
            </a:extLst>
          </p:cNvPr>
          <p:cNvSpPr/>
          <p:nvPr/>
        </p:nvSpPr>
        <p:spPr>
          <a:xfrm>
            <a:off x="266700" y="285750"/>
            <a:ext cx="8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ja-JP" altLang="en-US" sz="3200" b="1" dirty="0">
                <a:solidFill>
                  <a:srgbClr val="1E3A8A"/>
                </a:solidFill>
                <a:latin typeface="Arial" pitchFamily="34" charset="0"/>
              </a:rPr>
              <a:t>用いたデータ</a:t>
            </a:r>
            <a:endParaRPr lang="en-US" sz="32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39F3EF9-8A8D-A19A-5583-ACCF539FA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838200"/>
            <a:ext cx="2547274" cy="43053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27F2323-AF83-BDA3-34A0-CA8089D1E1D2}"/>
              </a:ext>
            </a:extLst>
          </p:cNvPr>
          <p:cNvSpPr txBox="1"/>
          <p:nvPr/>
        </p:nvSpPr>
        <p:spPr>
          <a:xfrm>
            <a:off x="3004474" y="1416050"/>
            <a:ext cx="63182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・上石神井駅の時刻表（上下線）</a:t>
            </a:r>
            <a:br>
              <a:rPr kumimoji="1" lang="en-US" altLang="ja-JP" sz="3200" dirty="0"/>
            </a:br>
            <a:r>
              <a:rPr kumimoji="1" lang="ja-JP" altLang="en-US" sz="3200" dirty="0"/>
              <a:t>・平均の遮断機の開閉時間</a:t>
            </a:r>
            <a:endParaRPr kumimoji="1" lang="en-US" altLang="ja-JP" sz="3200" dirty="0"/>
          </a:p>
          <a:p>
            <a:br>
              <a:rPr kumimoji="1" lang="en-US" altLang="ja-JP" sz="3200" dirty="0"/>
            </a:br>
            <a:r>
              <a:rPr kumimoji="1" lang="ja-JP" altLang="en-US" sz="3200" dirty="0"/>
              <a:t>踏切が閉まっている</a:t>
            </a:r>
            <a:endParaRPr kumimoji="1" lang="en-US" altLang="ja-JP" sz="3200" dirty="0"/>
          </a:p>
          <a:p>
            <a:r>
              <a:rPr kumimoji="1" lang="ja-JP" altLang="en-US" sz="3200" dirty="0"/>
              <a:t>時間をグラフ化したもの</a:t>
            </a:r>
          </a:p>
        </p:txBody>
      </p:sp>
    </p:spTree>
    <p:extLst>
      <p:ext uri="{BB962C8B-B14F-4D97-AF65-F5344CB8AC3E}">
        <p14:creationId xmlns:p14="http://schemas.microsoft.com/office/powerpoint/2010/main" val="2867628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D2BD-B7A7-1892-D554-35F8C8D5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D98B06AF-403E-EA4B-56A4-4E2513F6B83A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3A4D05A-8F9E-26F7-5537-54A3218E3990}"/>
              </a:ext>
            </a:extLst>
          </p:cNvPr>
          <p:cNvSpPr/>
          <p:nvPr/>
        </p:nvSpPr>
        <p:spPr>
          <a:xfrm>
            <a:off x="266700" y="285750"/>
            <a:ext cx="8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ja-JP" altLang="en-US" sz="3200" b="1" dirty="0">
                <a:solidFill>
                  <a:srgbClr val="1E3A8A"/>
                </a:solidFill>
                <a:latin typeface="Arial" pitchFamily="34" charset="0"/>
              </a:rPr>
              <a:t>用いたデータ</a:t>
            </a:r>
            <a:endParaRPr lang="en-US" sz="32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16DC0FC-BF3C-7676-6F89-1C208F830D38}"/>
              </a:ext>
            </a:extLst>
          </p:cNvPr>
          <p:cNvSpPr txBox="1"/>
          <p:nvPr/>
        </p:nvSpPr>
        <p:spPr>
          <a:xfrm>
            <a:off x="2765132" y="1881882"/>
            <a:ext cx="63788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複数のデータを用いてバスや一般の乗用車の交通量を推定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69182E9-DBB5-A3CB-6654-C53D6BEEC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863600"/>
            <a:ext cx="2431701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17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02A33-B709-E00D-777A-934015CA8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AFAA7F5D-1075-8F11-FE51-3551CB6CB5CF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37BE5EF-5FFE-65E3-B4AC-2891F9C33F2A}"/>
              </a:ext>
            </a:extLst>
          </p:cNvPr>
          <p:cNvSpPr/>
          <p:nvPr/>
        </p:nvSpPr>
        <p:spPr>
          <a:xfrm>
            <a:off x="266700" y="285750"/>
            <a:ext cx="8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ja-JP" altLang="en-US" sz="3200" b="1" dirty="0">
                <a:solidFill>
                  <a:srgbClr val="1E3A8A"/>
                </a:solidFill>
                <a:latin typeface="Arial" pitchFamily="34" charset="0"/>
              </a:rPr>
              <a:t>結果</a:t>
            </a:r>
            <a:endParaRPr lang="en-US" sz="32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7F9DFC1-7325-CF89-1A90-8EE930E55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791" y="705750"/>
            <a:ext cx="5991818" cy="424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1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4C17-75C1-2C7E-1E5D-562AE24B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B5B9AB3F-71AC-5532-157F-F3EEBA5EC609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AA5C843-EA6E-0019-E68F-DBEE14A0B4AF}"/>
              </a:ext>
            </a:extLst>
          </p:cNvPr>
          <p:cNvSpPr/>
          <p:nvPr/>
        </p:nvSpPr>
        <p:spPr>
          <a:xfrm>
            <a:off x="266700" y="285750"/>
            <a:ext cx="8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ja-JP" altLang="en-US" sz="3200" b="1" dirty="0">
                <a:solidFill>
                  <a:srgbClr val="1E3A8A"/>
                </a:solidFill>
                <a:latin typeface="Arial" pitchFamily="34" charset="0"/>
              </a:rPr>
              <a:t>結果（バス通りの交通量の変化）</a:t>
            </a:r>
            <a:endParaRPr lang="en-US" sz="32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F041CBC-A084-0188-C83E-729AA178DB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49" r="49820" b="45576"/>
          <a:stretch>
            <a:fillRect/>
          </a:stretch>
        </p:blipFill>
        <p:spPr>
          <a:xfrm>
            <a:off x="266700" y="1126336"/>
            <a:ext cx="4148138" cy="289082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D33398-BD56-5220-4F73-888A0C2B036E}"/>
              </a:ext>
            </a:extLst>
          </p:cNvPr>
          <p:cNvSpPr txBox="1"/>
          <p:nvPr/>
        </p:nvSpPr>
        <p:spPr>
          <a:xfrm>
            <a:off x="4729164" y="1540698"/>
            <a:ext cx="38671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AI</a:t>
            </a:r>
            <a:r>
              <a:rPr kumimoji="1" lang="ja-JP" altLang="en-US" sz="3200" dirty="0"/>
              <a:t>の交通誘導を</a:t>
            </a:r>
            <a:endParaRPr kumimoji="1" lang="en-US" altLang="ja-JP" sz="3200" dirty="0"/>
          </a:p>
          <a:p>
            <a:r>
              <a:rPr kumimoji="1" lang="ja-JP" altLang="en-US" sz="3200" dirty="0"/>
              <a:t>用いることで</a:t>
            </a:r>
            <a:endParaRPr kumimoji="1" lang="en-US" altLang="ja-JP" sz="3200" dirty="0"/>
          </a:p>
          <a:p>
            <a:r>
              <a:rPr kumimoji="1" lang="ja-JP" altLang="en-US" sz="3200" dirty="0"/>
              <a:t>交通量を減少できる可能性がある</a:t>
            </a:r>
          </a:p>
        </p:txBody>
      </p:sp>
    </p:spTree>
    <p:extLst>
      <p:ext uri="{BB962C8B-B14F-4D97-AF65-F5344CB8AC3E}">
        <p14:creationId xmlns:p14="http://schemas.microsoft.com/office/powerpoint/2010/main" val="4072273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80090-9FF5-66DD-1C74-8E40F62DD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47229179-9F36-4836-7B6D-0CACC485EED6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50FEA16-F119-95CB-C280-EDDE281C4932}"/>
              </a:ext>
            </a:extLst>
          </p:cNvPr>
          <p:cNvSpPr/>
          <p:nvPr/>
        </p:nvSpPr>
        <p:spPr>
          <a:xfrm>
            <a:off x="266700" y="285750"/>
            <a:ext cx="8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ja-JP" altLang="en-US" sz="3200" b="1" dirty="0">
                <a:solidFill>
                  <a:srgbClr val="1E3A8A"/>
                </a:solidFill>
                <a:latin typeface="Arial" pitchFamily="34" charset="0"/>
              </a:rPr>
              <a:t>結果（バスの遅延時間）</a:t>
            </a:r>
            <a:endParaRPr lang="en-US" sz="32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D68D316-15B7-F8FB-E414-98D2C74C7E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52" t="5660" r="-14" b="46294"/>
          <a:stretch>
            <a:fillRect/>
          </a:stretch>
        </p:blipFill>
        <p:spPr>
          <a:xfrm>
            <a:off x="452700" y="1165224"/>
            <a:ext cx="4064000" cy="281305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EE84053-3BCA-E993-DB9B-DF936EBDF6EF}"/>
              </a:ext>
            </a:extLst>
          </p:cNvPr>
          <p:cNvSpPr txBox="1"/>
          <p:nvPr/>
        </p:nvSpPr>
        <p:spPr>
          <a:xfrm>
            <a:off x="4729164" y="1540698"/>
            <a:ext cx="38671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平均値・最大値・</a:t>
            </a:r>
            <a:endParaRPr kumimoji="1" lang="en-US" altLang="ja-JP" sz="3200" dirty="0"/>
          </a:p>
          <a:p>
            <a:r>
              <a:rPr kumimoji="1" lang="ja-JP" altLang="en-US" sz="3200" dirty="0"/>
              <a:t>合計のすべてが減少できる可能性がある</a:t>
            </a:r>
          </a:p>
        </p:txBody>
      </p:sp>
    </p:spTree>
    <p:extLst>
      <p:ext uri="{BB962C8B-B14F-4D97-AF65-F5344CB8AC3E}">
        <p14:creationId xmlns:p14="http://schemas.microsoft.com/office/powerpoint/2010/main" val="2594244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815F5-FFEE-1478-1672-3AEB596B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B07B754E-8FFF-81B0-EF22-D6CDC2C421CB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36F28A4-EC47-11AB-9081-861115BFFBB6}"/>
              </a:ext>
            </a:extLst>
          </p:cNvPr>
          <p:cNvSpPr/>
          <p:nvPr/>
        </p:nvSpPr>
        <p:spPr>
          <a:xfrm>
            <a:off x="266700" y="285750"/>
            <a:ext cx="8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ja-JP" altLang="en-US" sz="3200" b="1" dirty="0">
                <a:solidFill>
                  <a:srgbClr val="1E3A8A"/>
                </a:solidFill>
                <a:latin typeface="Arial" pitchFamily="34" charset="0"/>
              </a:rPr>
              <a:t>結果の検証</a:t>
            </a:r>
            <a:endParaRPr lang="en-US" sz="32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1FB74FE-99B4-F10D-ADC1-4968DA0E0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314" y="771972"/>
            <a:ext cx="5996771" cy="419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725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E7D6B-5FC5-0D8C-B002-07529415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83770B04-A76F-62B0-6C10-244587B8A70F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9B2055F-8AFB-5129-43AD-3A69CD342A78}"/>
              </a:ext>
            </a:extLst>
          </p:cNvPr>
          <p:cNvSpPr/>
          <p:nvPr/>
        </p:nvSpPr>
        <p:spPr>
          <a:xfrm>
            <a:off x="266700" y="285750"/>
            <a:ext cx="8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ja-JP" altLang="en-US" sz="3200" b="1" dirty="0">
                <a:solidFill>
                  <a:srgbClr val="1E3A8A"/>
                </a:solidFill>
                <a:latin typeface="Arial" pitchFamily="34" charset="0"/>
              </a:rPr>
              <a:t>結果の検証</a:t>
            </a:r>
            <a:endParaRPr lang="en-US" sz="32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4FDB727-C1AF-645E-C535-7AC3F48D0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65" y="1240061"/>
            <a:ext cx="3803522" cy="266337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4588E5-B9E0-B4BB-10BB-82B4414622FE}"/>
              </a:ext>
            </a:extLst>
          </p:cNvPr>
          <p:cNvSpPr txBox="1"/>
          <p:nvPr/>
        </p:nvSpPr>
        <p:spPr>
          <a:xfrm>
            <a:off x="4695824" y="1240061"/>
            <a:ext cx="38035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踏切の遮断率を</a:t>
            </a:r>
            <a:endParaRPr kumimoji="1" lang="en-US" altLang="ja-JP" sz="3200" dirty="0"/>
          </a:p>
          <a:p>
            <a:r>
              <a:rPr kumimoji="1" lang="ja-JP" altLang="en-US" sz="3200" dirty="0"/>
              <a:t>７０～８５％で</a:t>
            </a:r>
            <a:endParaRPr kumimoji="1" lang="en-US" altLang="ja-JP" sz="3200" dirty="0"/>
          </a:p>
          <a:p>
            <a:r>
              <a:rPr kumimoji="1" lang="ja-JP" altLang="en-US" sz="3200" dirty="0"/>
              <a:t>変動させたとき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F27A39-B39F-50D2-85E4-5A5CD732D243}"/>
              </a:ext>
            </a:extLst>
          </p:cNvPr>
          <p:cNvSpPr txBox="1"/>
          <p:nvPr/>
        </p:nvSpPr>
        <p:spPr>
          <a:xfrm>
            <a:off x="4695825" y="2826221"/>
            <a:ext cx="38798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rgbClr val="FF0000"/>
                </a:solidFill>
              </a:rPr>
              <a:t>ほとんど一定の効果を得られた</a:t>
            </a:r>
          </a:p>
        </p:txBody>
      </p:sp>
    </p:spTree>
    <p:extLst>
      <p:ext uri="{BB962C8B-B14F-4D97-AF65-F5344CB8AC3E}">
        <p14:creationId xmlns:p14="http://schemas.microsoft.com/office/powerpoint/2010/main" val="270664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266700" y="285750"/>
            <a:ext cx="8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ja-JP" altLang="en-US" sz="3200" b="1">
                <a:solidFill>
                  <a:srgbClr val="1E3A8A"/>
                </a:solidFill>
                <a:latin typeface="Arial" pitchFamily="34" charset="0"/>
                <a:ea typeface="Arial" pitchFamily="34" charset="-122"/>
              </a:rPr>
              <a:t>練馬区の施策</a:t>
            </a:r>
            <a:endParaRPr lang="en-US" sz="3200"/>
          </a:p>
        </p:txBody>
      </p:sp>
      <p:sp>
        <p:nvSpPr>
          <p:cNvPr id="5" name="ContentBox"/>
          <p:cNvSpPr/>
          <p:nvPr/>
        </p:nvSpPr>
        <p:spPr>
          <a:xfrm>
            <a:off x="381000" y="900000"/>
            <a:ext cx="8382000" cy="1400000"/>
          </a:xfrm>
          <a:prstGeom prst="roundRect">
            <a:avLst>
              <a:gd name="adj" fmla="val 8533"/>
            </a:avLst>
          </a:prstGeom>
          <a:solidFill>
            <a:srgbClr val="1E3A8A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marL="0" indent="0" algn="l">
              <a:lnSpc>
                <a:spcPts val="4200"/>
              </a:lnSpc>
              <a:buNone/>
            </a:pPr>
            <a:r>
              <a:rPr lang="ja-JP" alt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</a:rPr>
              <a:t>AIよりも交通整備を優先すべき</a:t>
            </a:r>
            <a:endParaRPr lang="en-US" sz="4000"/>
          </a:p>
        </p:txBody>
      </p:sp>
      <p:sp>
        <p:nvSpPr>
          <p:cNvPr id="6" name="ReasonBox"/>
          <p:cNvSpPr/>
          <p:nvPr/>
        </p:nvSpPr>
        <p:spPr>
          <a:xfrm>
            <a:off x="381000" y="2500000"/>
            <a:ext cx="8382000" cy="1800000"/>
          </a:xfrm>
          <a:prstGeom prst="roundRect">
            <a:avLst>
              <a:gd name="adj" fmla="val 8533"/>
            </a:avLst>
          </a:prstGeom>
          <a:solidFill>
            <a:srgbClr val="FFF7ED"/>
          </a:solidFill>
          <a:ln w="38100">
            <a:solidFill>
              <a:srgbClr val="F97316"/>
            </a:solidFill>
          </a:ln>
        </p:spPr>
        <p:txBody>
          <a:bodyPr wrap="square" lIns="182880" tIns="91440" rIns="182880" bIns="91440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ja-JP" altLang="en-US" sz="3200" b="0">
                <a:solidFill>
                  <a:srgbClr val="1E3A8A"/>
                </a:solidFill>
                <a:latin typeface="Arial" pitchFamily="34" charset="0"/>
                <a:ea typeface="Arial" pitchFamily="34" charset="-122"/>
              </a:rPr>
              <a:t>理由：AIを活用するためにも、</a:t>
            </a:r>
            <a:endParaRPr lang="en-US" sz="3200"/>
          </a:p>
          <a:p>
            <a:pPr marL="0" indent="0" algn="l">
              <a:lnSpc>
                <a:spcPts val="3600"/>
              </a:lnSpc>
              <a:buNone/>
            </a:pPr>
            <a:r>
              <a:rPr lang="ja-JP" altLang="en-US" sz="3200" b="1">
                <a:solidFill>
                  <a:srgbClr val="F97316"/>
                </a:solidFill>
                <a:latin typeface="Arial" pitchFamily="34" charset="0"/>
                <a:ea typeface="Arial" pitchFamily="34" charset="-122"/>
              </a:rPr>
              <a:t>まず道路の整備が必要</a:t>
            </a:r>
            <a:endParaRPr lang="en-US"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266700" y="285750"/>
            <a:ext cx="85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ja-JP" altLang="en-US" sz="3200" b="1">
                <a:solidFill>
                  <a:srgbClr val="1E3A8A"/>
                </a:solidFill>
                <a:latin typeface="Arial" pitchFamily="34" charset="0"/>
                <a:ea typeface="Arial" pitchFamily="34" charset="-122"/>
              </a:rPr>
              <a:t>結論</a:t>
            </a:r>
            <a:endParaRPr lang="en-US" sz="3200"/>
          </a:p>
        </p:txBody>
      </p:sp>
      <p:sp>
        <p:nvSpPr>
          <p:cNvPr id="4" name="Point1Box"/>
          <p:cNvSpPr/>
          <p:nvPr/>
        </p:nvSpPr>
        <p:spPr>
          <a:xfrm>
            <a:off x="381000" y="900000"/>
            <a:ext cx="8382000" cy="1750000"/>
          </a:xfrm>
          <a:prstGeom prst="roundRect">
            <a:avLst>
              <a:gd name="adj" fmla="val 8533"/>
            </a:avLst>
          </a:prstGeom>
          <a:solidFill>
            <a:srgbClr val="EBF2FF"/>
          </a:solidFill>
          <a:ln w="38100">
            <a:solidFill>
              <a:srgbClr val="1E3A8A"/>
            </a:solidFill>
          </a:ln>
        </p:spPr>
        <p:txBody>
          <a:bodyPr wrap="square" lIns="182880" tIns="91440" rIns="182880" bIns="91440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ja-JP" altLang="en-US" sz="3200" b="1">
                <a:solidFill>
                  <a:srgbClr val="1E3A8A"/>
                </a:solidFill>
                <a:latin typeface="Arial" pitchFamily="34" charset="0"/>
                <a:ea typeface="Arial" pitchFamily="34" charset="-122"/>
              </a:rPr>
              <a:t>✔</a:t>
            </a:r>
            <a:r>
              <a:rPr lang="ja-JP" altLang="en-US" sz="3200" b="0">
                <a:solidFill>
                  <a:srgbClr val="1E3A8A"/>
                </a:solidFill>
                <a:latin typeface="Arial" pitchFamily="34" charset="0"/>
                <a:ea typeface="Arial" pitchFamily="34" charset="-122"/>
              </a:rPr>
              <a:t> AIの交通誘導は、渋滞を効果的に解消できる手法</a:t>
            </a:r>
            <a:endParaRPr lang="en-US" sz="3200"/>
          </a:p>
        </p:txBody>
      </p:sp>
      <p:sp>
        <p:nvSpPr>
          <p:cNvPr id="5" name="Point2Box"/>
          <p:cNvSpPr/>
          <p:nvPr/>
        </p:nvSpPr>
        <p:spPr>
          <a:xfrm>
            <a:off x="381000" y="2900000"/>
            <a:ext cx="8382000" cy="1800000"/>
          </a:xfrm>
          <a:prstGeom prst="roundRect">
            <a:avLst>
              <a:gd name="adj" fmla="val 8533"/>
            </a:avLst>
          </a:prstGeom>
          <a:solidFill>
            <a:srgbClr val="FFF7ED"/>
          </a:solidFill>
          <a:ln w="38100">
            <a:solidFill>
              <a:srgbClr val="F97316"/>
            </a:solidFill>
          </a:ln>
        </p:spPr>
        <p:txBody>
          <a:bodyPr wrap="square" lIns="182880" tIns="91440" rIns="182880" bIns="91440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ja-JP" altLang="en-US" sz="3200" b="1">
                <a:solidFill>
                  <a:srgbClr val="F97316"/>
                </a:solidFill>
                <a:latin typeface="Arial" pitchFamily="34" charset="0"/>
                <a:ea typeface="Arial" pitchFamily="34" charset="-122"/>
              </a:rPr>
              <a:t>⚠</a:t>
            </a:r>
            <a:r>
              <a:rPr lang="ja-JP" altLang="en-US" sz="3200" b="0">
                <a:solidFill>
                  <a:srgbClr val="1E3A8A"/>
                </a:solidFill>
                <a:latin typeface="Arial" pitchFamily="34" charset="0"/>
                <a:ea typeface="Arial" pitchFamily="34" charset="-122"/>
              </a:rPr>
              <a:t> 道路整備はAIだけでは解決が難しい</a:t>
            </a:r>
            <a:endParaRPr lang="en-US" sz="3200"/>
          </a:p>
          <a:p>
            <a:pPr marL="0" indent="0" algn="l">
              <a:lnSpc>
                <a:spcPts val="3600"/>
              </a:lnSpc>
              <a:buNone/>
            </a:pPr>
            <a:r>
              <a:rPr lang="ja-JP" altLang="en-US" sz="3200" b="0">
                <a:solidFill>
                  <a:srgbClr val="1E3A8A"/>
                </a:solidFill>
                <a:latin typeface="Arial" pitchFamily="34" charset="0"/>
                <a:ea typeface="Arial" pitchFamily="34" charset="-122"/>
              </a:rPr>
              <a:t>  物理的な交通課題への対応も重要</a:t>
            </a:r>
            <a:endParaRPr lang="en-US" sz="3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f2e35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6762" y="2274540"/>
            <a:ext cx="6659975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600" b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3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BC712-3687-BA5B-0A3F-3ECC4E11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f2e35e5.png">
            <a:extLst>
              <a:ext uri="{FF2B5EF4-FFF2-40B4-BE49-F238E27FC236}">
                <a16:creationId xmlns:a16="http://schemas.microsoft.com/office/drawing/2014/main" id="{CFFB6BB0-3A94-51F3-02E1-0328084C3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16F1282-C9CA-09C3-D352-2EF8667362B9}"/>
              </a:ext>
            </a:extLst>
          </p:cNvPr>
          <p:cNvSpPr/>
          <p:nvPr/>
        </p:nvSpPr>
        <p:spPr>
          <a:xfrm>
            <a:off x="367799" y="223403"/>
            <a:ext cx="4257944" cy="55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ja-JP" altLang="en-US" sz="4000" b="1" dirty="0">
                <a:solidFill>
                  <a:srgbClr val="1E3A8A"/>
                </a:solidFill>
                <a:latin typeface="Arial"/>
                <a:ea typeface="游ゴシック"/>
                <a:cs typeface="Arial"/>
              </a:rPr>
              <a:t>シュミレーション</a:t>
            </a:r>
            <a:endParaRPr lang="en-US" sz="4000" b="1" dirty="0">
              <a:solidFill>
                <a:srgbClr val="1E3A8A"/>
              </a:solidFill>
              <a:latin typeface="Arial"/>
              <a:ea typeface="游ゴシック"/>
              <a:cs typeface="Arial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BE72CF5-70AA-6A12-FB25-31637895B346}"/>
              </a:ext>
            </a:extLst>
          </p:cNvPr>
          <p:cNvSpPr txBox="1"/>
          <p:nvPr/>
        </p:nvSpPr>
        <p:spPr>
          <a:xfrm>
            <a:off x="641350" y="1143000"/>
            <a:ext cx="56046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/>
              <a:t>踏切の開閉時間の推定</a:t>
            </a:r>
            <a:endParaRPr kumimoji="1" lang="en-US" altLang="ja-JP" sz="2800" b="1" dirty="0"/>
          </a:p>
          <a:p>
            <a:r>
              <a:rPr kumimoji="1" lang="en-US" altLang="ja-JP" sz="1600" dirty="0"/>
              <a:t>https://claude.ai/share/9051df03-1fcf-4858-a600-0d10879847a9</a:t>
            </a:r>
            <a:endParaRPr kumimoji="1" lang="ja-JP" altLang="en-US" sz="16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2DC5B1C-4EDB-E841-FD6E-1C2DB1BB2586}"/>
              </a:ext>
            </a:extLst>
          </p:cNvPr>
          <p:cNvSpPr txBox="1"/>
          <p:nvPr/>
        </p:nvSpPr>
        <p:spPr>
          <a:xfrm>
            <a:off x="641350" y="2095500"/>
            <a:ext cx="70070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/>
              <a:t>データの確認・シュミレーションの再検証</a:t>
            </a:r>
            <a:endParaRPr kumimoji="1" lang="en-US" altLang="ja-JP" sz="2800" b="1" dirty="0"/>
          </a:p>
          <a:p>
            <a:r>
              <a:rPr kumimoji="1" lang="en-US" altLang="ja-JP" sz="1600" dirty="0"/>
              <a:t>https://chatgpt.com/share/69b6d49b-235c-8012-a0f0-414916cf6774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35015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3942D-92A2-0E4E-0647-AB31F7D1E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f2e35e5.png">
            <a:extLst>
              <a:ext uri="{FF2B5EF4-FFF2-40B4-BE49-F238E27FC236}">
                <a16:creationId xmlns:a16="http://schemas.microsoft.com/office/drawing/2014/main" id="{5ACF84B9-1237-1C52-5F1D-757907431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3F72CF9-87FF-0339-7EC2-B7664B69226C}"/>
              </a:ext>
            </a:extLst>
          </p:cNvPr>
          <p:cNvSpPr/>
          <p:nvPr/>
        </p:nvSpPr>
        <p:spPr>
          <a:xfrm>
            <a:off x="367799" y="223403"/>
            <a:ext cx="2138861" cy="55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ja-JP" altLang="en-US" sz="4000" b="1">
                <a:solidFill>
                  <a:srgbClr val="1E3A8A"/>
                </a:solidFill>
                <a:latin typeface="Arial"/>
                <a:ea typeface="游ゴシック"/>
                <a:cs typeface="Arial"/>
              </a:rPr>
              <a:t>参考文献</a:t>
            </a:r>
            <a:endParaRPr lang="en-US" sz="4000" b="1" dirty="0">
              <a:solidFill>
                <a:srgbClr val="1E3A8A"/>
              </a:solidFill>
              <a:latin typeface="Arial"/>
              <a:ea typeface="游ゴシック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189742-29D0-B029-E181-BFEF6BA70368}"/>
              </a:ext>
            </a:extLst>
          </p:cNvPr>
          <p:cNvSpPr txBox="1"/>
          <p:nvPr/>
        </p:nvSpPr>
        <p:spPr>
          <a:xfrm>
            <a:off x="366115" y="1069454"/>
            <a:ext cx="8783093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altLang="ja-JP" sz="2800">
                <a:highlight>
                  <a:srgbClr val="FFFFFF"/>
                </a:highlight>
                <a:latin typeface="Yu Mincho Regular"/>
                <a:ea typeface="Yu Mincho Regular"/>
              </a:rPr>
              <a:t>Cognitive</a:t>
            </a:r>
            <a:r>
              <a:rPr lang="ja-JP" altLang="en-US" sz="2800" dirty="0">
                <a:highlight>
                  <a:srgbClr val="FFFFFF"/>
                </a:highlight>
                <a:latin typeface="Yu Mincho Regular"/>
                <a:ea typeface="Yu Mincho Regular"/>
              </a:rPr>
              <a:t> </a:t>
            </a:r>
            <a:r>
              <a:rPr lang="en-US" altLang="ja-JP" sz="2800">
                <a:highlight>
                  <a:srgbClr val="FFFFFF"/>
                </a:highlight>
                <a:latin typeface="Yu Mincho Regular"/>
                <a:ea typeface="Yu Mincho Regular"/>
              </a:rPr>
              <a:t>Research:</a:t>
            </a:r>
            <a:r>
              <a:rPr lang="ja-JP" altLang="en-US" sz="2800" dirty="0">
                <a:highlight>
                  <a:srgbClr val="FFFFFF"/>
                </a:highlight>
                <a:latin typeface="Yu Mincho Regular"/>
                <a:ea typeface="Yu Mincho Regular"/>
              </a:rPr>
              <a:t> </a:t>
            </a:r>
            <a:r>
              <a:rPr lang="en-US" altLang="ja-JP" sz="2800">
                <a:highlight>
                  <a:srgbClr val="FFFFFF"/>
                </a:highlight>
                <a:latin typeface="Yu Mincho Regular"/>
                <a:ea typeface="Yu Mincho Regular"/>
              </a:rPr>
              <a:t>Principles</a:t>
            </a:r>
            <a:r>
              <a:rPr lang="ja-JP" altLang="en-US" sz="2800" dirty="0">
                <a:highlight>
                  <a:srgbClr val="FFFFFF"/>
                </a:highlight>
                <a:latin typeface="Yu Mincho Regular"/>
                <a:ea typeface="Yu Mincho Regular"/>
              </a:rPr>
              <a:t> </a:t>
            </a:r>
            <a:r>
              <a:rPr lang="en-US" altLang="ja-JP" sz="2800">
                <a:highlight>
                  <a:srgbClr val="FFFFFF"/>
                </a:highlight>
                <a:latin typeface="Yu Mincho Regular"/>
                <a:ea typeface="Yu Mincho Regular"/>
              </a:rPr>
              <a:t>and</a:t>
            </a:r>
            <a:r>
              <a:rPr lang="ja-JP" altLang="en-US" sz="2800" dirty="0">
                <a:highlight>
                  <a:srgbClr val="FFFFFF"/>
                </a:highlight>
                <a:latin typeface="Yu Mincho Regular"/>
                <a:ea typeface="Yu Mincho Regular"/>
              </a:rPr>
              <a:t> </a:t>
            </a:r>
            <a:r>
              <a:rPr lang="en-US" altLang="ja-JP" sz="2800">
                <a:highlight>
                  <a:srgbClr val="FFFFFF"/>
                </a:highlight>
                <a:latin typeface="Yu Mincho Regular"/>
                <a:ea typeface="Yu Mincho Regular"/>
              </a:rPr>
              <a:t>Implications</a:t>
            </a:r>
            <a:endParaRPr lang="en-US" sz="2800">
              <a:highlight>
                <a:srgbClr val="606060"/>
              </a:highlight>
              <a:latin typeface="Yu Mincho Regular"/>
              <a:ea typeface="Yu Mincho Regular"/>
            </a:endParaRPr>
          </a:p>
          <a:p>
            <a:pPr algn="just"/>
            <a:r>
              <a:rPr lang="en-US" sz="1100" dirty="0">
                <a:highlight>
                  <a:srgbClr val="FFFFFF"/>
                </a:highlight>
                <a:latin typeface="Yu Mincho Regular"/>
                <a:ea typeface="Yu Mincho Regular"/>
                <a:hlinkClick r:id="rId4"/>
              </a:rPr>
              <a:t>https://link.springer.com/article/10.1186/s41235-019-0156-5?utm_source=chatgpt.com</a:t>
            </a:r>
            <a:endParaRPr lang="en-US" sz="1100">
              <a:highlight>
                <a:srgbClr val="606060"/>
              </a:highlight>
              <a:latin typeface="Yu Mincho Regular"/>
              <a:ea typeface="Yu Mincho Regular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60689-E64C-9F3A-FC63-90FE9EBCD664}"/>
              </a:ext>
            </a:extLst>
          </p:cNvPr>
          <p:cNvSpPr txBox="1"/>
          <p:nvPr/>
        </p:nvSpPr>
        <p:spPr>
          <a:xfrm>
            <a:off x="366643" y="1875282"/>
            <a:ext cx="8520830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altLang="ja-JP" sz="2800">
                <a:highlight>
                  <a:srgbClr val="FFFFFF"/>
                </a:highlight>
                <a:latin typeface="Yu Mincho Regular"/>
                <a:ea typeface="Yu Mincho Regular"/>
              </a:rPr>
              <a:t>CEUR</a:t>
            </a:r>
            <a:r>
              <a:rPr lang="ja-JP" altLang="en-US" sz="2800" dirty="0">
                <a:highlight>
                  <a:srgbClr val="FFFFFF"/>
                </a:highlight>
                <a:latin typeface="Yu Mincho Regular"/>
                <a:ea typeface="Yu Mincho Regular"/>
              </a:rPr>
              <a:t> </a:t>
            </a:r>
            <a:r>
              <a:rPr lang="en-US" altLang="ja-JP" sz="2800">
                <a:highlight>
                  <a:srgbClr val="FFFFFF"/>
                </a:highlight>
                <a:latin typeface="Yu Mincho Regular"/>
                <a:ea typeface="Yu Mincho Regular"/>
              </a:rPr>
              <a:t>Workshop</a:t>
            </a:r>
            <a:r>
              <a:rPr lang="ja-JP" altLang="en-US" sz="2800" dirty="0">
                <a:highlight>
                  <a:srgbClr val="FFFFFF"/>
                </a:highlight>
                <a:latin typeface="Yu Mincho Regular"/>
                <a:ea typeface="Yu Mincho Regular"/>
              </a:rPr>
              <a:t> </a:t>
            </a:r>
            <a:r>
              <a:rPr lang="en-US" altLang="ja-JP" sz="2800">
                <a:highlight>
                  <a:srgbClr val="FFFFFF"/>
                </a:highlight>
                <a:latin typeface="Yu Mincho Regular"/>
                <a:ea typeface="Yu Mincho Regular"/>
              </a:rPr>
              <a:t>Proceedings</a:t>
            </a:r>
            <a:r>
              <a:rPr lang="ja-JP" altLang="en-US" sz="2800" dirty="0">
                <a:highlight>
                  <a:srgbClr val="FFFFFF"/>
                </a:highlight>
                <a:latin typeface="Yu Mincho Regular"/>
                <a:ea typeface="Yu Mincho Regular"/>
              </a:rPr>
              <a:t> </a:t>
            </a:r>
            <a:r>
              <a:rPr lang="en-US" altLang="ja-JP" sz="2800">
                <a:highlight>
                  <a:srgbClr val="FFFFFF"/>
                </a:highlight>
                <a:latin typeface="Yu Mincho Regular"/>
                <a:ea typeface="Yu Mincho Regular"/>
              </a:rPr>
              <a:t>Vol.3087</a:t>
            </a:r>
            <a:endParaRPr lang="en-US" sz="2800">
              <a:highlight>
                <a:srgbClr val="606060"/>
              </a:highlight>
              <a:latin typeface="Yu Mincho Regular"/>
              <a:ea typeface="Yu Mincho Regular"/>
            </a:endParaRPr>
          </a:p>
          <a:p>
            <a:pPr algn="just"/>
            <a:r>
              <a:rPr lang="en-US" sz="1100" dirty="0">
                <a:highlight>
                  <a:srgbClr val="FFFFFF"/>
                </a:highlight>
                <a:latin typeface="Yu Mincho Regular"/>
                <a:ea typeface="Yu Mincho Regular"/>
                <a:hlinkClick r:id="rId5"/>
              </a:rPr>
              <a:t>https://ceur-ws.org/Vol-3087/paper_28.pdf?utm_source=chatgpt.com</a:t>
            </a:r>
            <a:endParaRPr lang="en-US" sz="1100">
              <a:highlight>
                <a:srgbClr val="606060"/>
              </a:highlight>
              <a:latin typeface="Yu Mincho Regular"/>
              <a:ea typeface="Yu Mincho Regular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3DEA8-66A3-002A-E1D8-6504E09EAF55}"/>
              </a:ext>
            </a:extLst>
          </p:cNvPr>
          <p:cNvSpPr txBox="1"/>
          <p:nvPr/>
        </p:nvSpPr>
        <p:spPr>
          <a:xfrm>
            <a:off x="367952" y="3108020"/>
            <a:ext cx="630607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000" b="1">
                <a:solidFill>
                  <a:srgbClr val="1E3A8A"/>
                </a:solidFill>
                <a:ea typeface="游ゴシック"/>
                <a:cs typeface="Calibri"/>
              </a:rPr>
              <a:t>協力（フィールドワーク）</a:t>
            </a:r>
            <a:endParaRPr lang="ja-JP" altLang="en-US" sz="4000" b="1" dirty="0">
              <a:solidFill>
                <a:srgbClr val="1E3A8A"/>
              </a:solidFill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82FB7-FA74-1892-949C-53868219D116}"/>
              </a:ext>
            </a:extLst>
          </p:cNvPr>
          <p:cNvSpPr txBox="1"/>
          <p:nvPr/>
        </p:nvSpPr>
        <p:spPr>
          <a:xfrm>
            <a:off x="496852" y="3821709"/>
            <a:ext cx="6468923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 dirty="0">
                <a:ea typeface="游ゴシック"/>
                <a:cs typeface="Calibri"/>
              </a:rPr>
              <a:t>練馬区役所　</a:t>
            </a:r>
            <a:r>
              <a:rPr lang="ja-JP" sz="2800" b="1" dirty="0">
                <a:ea typeface="游ゴシック"/>
              </a:rPr>
              <a:t>交通企画課</a:t>
            </a:r>
            <a:r>
              <a:rPr lang="ja-JP" altLang="en-US" sz="2800" b="1" dirty="0">
                <a:ea typeface="游ゴシック"/>
              </a:rPr>
              <a:t>　根本　亮様</a:t>
            </a:r>
            <a:br>
              <a:rPr lang="ja-JP" altLang="en-US" sz="2800" b="1" dirty="0">
                <a:ea typeface="游ゴシック"/>
              </a:rPr>
            </a:br>
            <a:r>
              <a:rPr lang="ja-JP" sz="1100" dirty="0">
                <a:ea typeface="+mn-lt"/>
                <a:cs typeface="+mn-lt"/>
                <a:hlinkClick r:id="rId6"/>
              </a:rPr>
              <a:t>交通企画課：練馬区公式ホームページ</a:t>
            </a:r>
            <a:endParaRPr lang="ja-JP" altLang="en-US" sz="1100" b="1" dirty="0">
              <a:ea typeface="游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4107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5d1d615-ed61-4352-a1d6-46aea2796515" xsi:nil="true"/>
    <lcf76f155ced4ddcb4097134ff3c332f xmlns="dc558386-1879-4e68-a92c-9173b58fafaa">
      <Terms xmlns="http://schemas.microsoft.com/office/infopath/2007/PartnerControls"/>
    </lcf76f155ced4ddcb4097134ff3c332f>
    <_Flow_SignoffStatus xmlns="dc558386-1879-4e68-a92c-9173b58fafa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4691EF59B58A84985DE23F8FF28C72E" ma:contentTypeVersion="13" ma:contentTypeDescription="新しいドキュメントを作成します。" ma:contentTypeScope="" ma:versionID="2af168f70ac6d061fd478f904a96de11">
  <xsd:schema xmlns:xsd="http://www.w3.org/2001/XMLSchema" xmlns:xs="http://www.w3.org/2001/XMLSchema" xmlns:p="http://schemas.microsoft.com/office/2006/metadata/properties" xmlns:ns2="dc558386-1879-4e68-a92c-9173b58fafaa" xmlns:ns3="e5d1d615-ed61-4352-a1d6-46aea2796515" targetNamespace="http://schemas.microsoft.com/office/2006/metadata/properties" ma:root="true" ma:fieldsID="8a4a78b6d3479d975e8246f4a8018076" ns2:_="" ns3:_="">
    <xsd:import namespace="dc558386-1879-4e68-a92c-9173b58fafaa"/>
    <xsd:import namespace="e5d1d615-ed61-4352-a1d6-46aea279651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558386-1879-4e68-a92c-9173b58fafa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画像タグ" ma:readOnly="false" ma:fieldId="{5cf76f15-5ced-4ddc-b409-7134ff3c332f}" ma:taxonomyMulti="true" ma:sspId="8d44362a-58f1-47df-9726-03069f1755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Flow_SignoffStatus" ma:index="20" nillable="true" ma:displayName="承認の状態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d1d615-ed61-4352-a1d6-46aea279651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4df80c2-aa10-46ad-a29e-7a333815cd14}" ma:internalName="TaxCatchAll" ma:showField="CatchAllData" ma:web="e5d1d615-ed61-4352-a1d6-46aea27965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6E7A58-CDF4-4312-906D-6FE7B2EC58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319896-CE3B-4A22-A663-19616C3C5440}">
  <ds:schemaRefs>
    <ds:schemaRef ds:uri="dc558386-1879-4e68-a92c-9173b58fafaa"/>
    <ds:schemaRef ds:uri="e5d1d615-ed61-4352-a1d6-46aea279651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67E903E-3874-4A52-9B55-6A9BE10F39EC}">
  <ds:schemaRefs>
    <ds:schemaRef ds:uri="dc558386-1879-4e68-a92c-9173b58fafaa"/>
    <ds:schemaRef ds:uri="e5d1d615-ed61-4352-a1d6-46aea27965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555</Words>
  <Application>Microsoft Office PowerPoint</Application>
  <PresentationFormat>画面に合わせる (16:9)</PresentationFormat>
  <Paragraphs>109</Paragraphs>
  <Slides>23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9" baseType="lpstr">
      <vt:lpstr>Yu Mincho Regular</vt:lpstr>
      <vt:lpstr>游ゴシック</vt:lpstr>
      <vt:lpstr>Aptos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田無高2707</cp:lastModifiedBy>
  <cp:revision>74</cp:revision>
  <dcterms:created xsi:type="dcterms:W3CDTF">2025-12-18T04:44:45Z</dcterms:created>
  <dcterms:modified xsi:type="dcterms:W3CDTF">2026-03-15T16:35:23Z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0x010100C4691EF59B58A84985DE23F8FF28C72E</vt:lpwstr>
  </property>
  <property fmtid="{D5CDD505-2E9C-101B-9397-08002B2CF9AE}" pid="3" name="MediaServiceImageTags">
    <vt:lpwstr/>
  </property>
</Properties>
</file>